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1206400" cy="2834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6E0"/>
    <a:srgbClr val="C4E4FF"/>
    <a:srgbClr val="578FCA"/>
    <a:srgbClr val="FFFFFF"/>
    <a:srgbClr val="2C5985"/>
    <a:srgbClr val="A0A5AA"/>
    <a:srgbClr val="D8C4B6"/>
    <a:srgbClr val="D9EAFD"/>
    <a:srgbClr val="F3F3E0"/>
    <a:srgbClr val="164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26" d="100"/>
          <a:sy n="26" d="100"/>
        </p:scale>
        <p:origin x="7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4639100"/>
            <a:ext cx="38404800" cy="9868747"/>
          </a:xfrm>
        </p:spPr>
        <p:txBody>
          <a:bodyPr anchor="b"/>
          <a:lstStyle>
            <a:lvl1pPr algn="ctr">
              <a:defRPr sz="2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14888424"/>
            <a:ext cx="38404800" cy="6843816"/>
          </a:xfrm>
        </p:spPr>
        <p:txBody>
          <a:bodyPr/>
          <a:lstStyle>
            <a:lvl1pPr marL="0" indent="0" algn="ctr">
              <a:buNone/>
              <a:defRPr sz="9920"/>
            </a:lvl1pPr>
            <a:lvl2pPr marL="1889745" indent="0" algn="ctr">
              <a:buNone/>
              <a:defRPr sz="8267"/>
            </a:lvl2pPr>
            <a:lvl3pPr marL="3779490" indent="0" algn="ctr">
              <a:buNone/>
              <a:defRPr sz="7440"/>
            </a:lvl3pPr>
            <a:lvl4pPr marL="5669234" indent="0" algn="ctr">
              <a:buNone/>
              <a:defRPr sz="6613"/>
            </a:lvl4pPr>
            <a:lvl5pPr marL="7558979" indent="0" algn="ctr">
              <a:buNone/>
              <a:defRPr sz="6613"/>
            </a:lvl5pPr>
            <a:lvl6pPr marL="9448724" indent="0" algn="ctr">
              <a:buNone/>
              <a:defRPr sz="6613"/>
            </a:lvl6pPr>
            <a:lvl7pPr marL="11338469" indent="0" algn="ctr">
              <a:buNone/>
              <a:defRPr sz="6613"/>
            </a:lvl7pPr>
            <a:lvl8pPr marL="13228213" indent="0" algn="ctr">
              <a:buNone/>
              <a:defRPr sz="6613"/>
            </a:lvl8pPr>
            <a:lvl9pPr marL="15117958" indent="0" algn="ctr">
              <a:buNone/>
              <a:defRPr sz="66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27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29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7066919"/>
            <a:ext cx="44165520" cy="11791313"/>
          </a:xfrm>
        </p:spPr>
        <p:txBody>
          <a:bodyPr anchor="b"/>
          <a:lstStyle>
            <a:lvl1pPr>
              <a:defRPr sz="2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18969782"/>
            <a:ext cx="44165520" cy="6200773"/>
          </a:xfrm>
        </p:spPr>
        <p:txBody>
          <a:bodyPr/>
          <a:lstStyle>
            <a:lvl1pPr marL="0" indent="0">
              <a:buNone/>
              <a:defRPr sz="9920">
                <a:solidFill>
                  <a:schemeClr val="tx1">
                    <a:tint val="82000"/>
                  </a:schemeClr>
                </a:solidFill>
              </a:defRPr>
            </a:lvl1pPr>
            <a:lvl2pPr marL="1889745" indent="0">
              <a:buNone/>
              <a:defRPr sz="8267">
                <a:solidFill>
                  <a:schemeClr val="tx1">
                    <a:tint val="82000"/>
                  </a:schemeClr>
                </a:solidFill>
              </a:defRPr>
            </a:lvl2pPr>
            <a:lvl3pPr marL="3779490" indent="0">
              <a:buNone/>
              <a:defRPr sz="7440">
                <a:solidFill>
                  <a:schemeClr val="tx1">
                    <a:tint val="82000"/>
                  </a:schemeClr>
                </a:solidFill>
              </a:defRPr>
            </a:lvl3pPr>
            <a:lvl4pPr marL="5669234" indent="0">
              <a:buNone/>
              <a:defRPr sz="6613">
                <a:solidFill>
                  <a:schemeClr val="tx1">
                    <a:tint val="82000"/>
                  </a:schemeClr>
                </a:solidFill>
              </a:defRPr>
            </a:lvl4pPr>
            <a:lvl5pPr marL="7558979" indent="0">
              <a:buNone/>
              <a:defRPr sz="6613">
                <a:solidFill>
                  <a:schemeClr val="tx1">
                    <a:tint val="82000"/>
                  </a:schemeClr>
                </a:solidFill>
              </a:defRPr>
            </a:lvl5pPr>
            <a:lvl6pPr marL="9448724" indent="0">
              <a:buNone/>
              <a:defRPr sz="6613">
                <a:solidFill>
                  <a:schemeClr val="tx1">
                    <a:tint val="82000"/>
                  </a:schemeClr>
                </a:solidFill>
              </a:defRPr>
            </a:lvl6pPr>
            <a:lvl7pPr marL="11338469" indent="0">
              <a:buNone/>
              <a:defRPr sz="6613">
                <a:solidFill>
                  <a:schemeClr val="tx1">
                    <a:tint val="82000"/>
                  </a:schemeClr>
                </a:solidFill>
              </a:defRPr>
            </a:lvl7pPr>
            <a:lvl8pPr marL="13228213" indent="0">
              <a:buNone/>
              <a:defRPr sz="6613">
                <a:solidFill>
                  <a:schemeClr val="tx1">
                    <a:tint val="82000"/>
                  </a:schemeClr>
                </a:solidFill>
              </a:defRPr>
            </a:lvl8pPr>
            <a:lvl9pPr marL="15117958" indent="0">
              <a:buNone/>
              <a:defRPr sz="66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6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7545917"/>
            <a:ext cx="21762720" cy="17985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7545917"/>
            <a:ext cx="21762720" cy="17985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3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1509185"/>
            <a:ext cx="44165520" cy="54789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6948807"/>
            <a:ext cx="21662705" cy="3405503"/>
          </a:xfrm>
        </p:spPr>
        <p:txBody>
          <a:bodyPr anchor="b"/>
          <a:lstStyle>
            <a:lvl1pPr marL="0" indent="0">
              <a:buNone/>
              <a:defRPr sz="9920" b="1"/>
            </a:lvl1pPr>
            <a:lvl2pPr marL="1889745" indent="0">
              <a:buNone/>
              <a:defRPr sz="8267" b="1"/>
            </a:lvl2pPr>
            <a:lvl3pPr marL="3779490" indent="0">
              <a:buNone/>
              <a:defRPr sz="7440" b="1"/>
            </a:lvl3pPr>
            <a:lvl4pPr marL="5669234" indent="0">
              <a:buNone/>
              <a:defRPr sz="6613" b="1"/>
            </a:lvl4pPr>
            <a:lvl5pPr marL="7558979" indent="0">
              <a:buNone/>
              <a:defRPr sz="6613" b="1"/>
            </a:lvl5pPr>
            <a:lvl6pPr marL="9448724" indent="0">
              <a:buNone/>
              <a:defRPr sz="6613" b="1"/>
            </a:lvl6pPr>
            <a:lvl7pPr marL="11338469" indent="0">
              <a:buNone/>
              <a:defRPr sz="6613" b="1"/>
            </a:lvl7pPr>
            <a:lvl8pPr marL="13228213" indent="0">
              <a:buNone/>
              <a:defRPr sz="6613" b="1"/>
            </a:lvl8pPr>
            <a:lvl9pPr marL="15117958" indent="0">
              <a:buNone/>
              <a:defRPr sz="66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0354310"/>
            <a:ext cx="21662705" cy="152296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6948807"/>
            <a:ext cx="21769390" cy="3405503"/>
          </a:xfrm>
        </p:spPr>
        <p:txBody>
          <a:bodyPr anchor="b"/>
          <a:lstStyle>
            <a:lvl1pPr marL="0" indent="0">
              <a:buNone/>
              <a:defRPr sz="9920" b="1"/>
            </a:lvl1pPr>
            <a:lvl2pPr marL="1889745" indent="0">
              <a:buNone/>
              <a:defRPr sz="8267" b="1"/>
            </a:lvl2pPr>
            <a:lvl3pPr marL="3779490" indent="0">
              <a:buNone/>
              <a:defRPr sz="7440" b="1"/>
            </a:lvl3pPr>
            <a:lvl4pPr marL="5669234" indent="0">
              <a:buNone/>
              <a:defRPr sz="6613" b="1"/>
            </a:lvl4pPr>
            <a:lvl5pPr marL="7558979" indent="0">
              <a:buNone/>
              <a:defRPr sz="6613" b="1"/>
            </a:lvl5pPr>
            <a:lvl6pPr marL="9448724" indent="0">
              <a:buNone/>
              <a:defRPr sz="6613" b="1"/>
            </a:lvl6pPr>
            <a:lvl7pPr marL="11338469" indent="0">
              <a:buNone/>
              <a:defRPr sz="6613" b="1"/>
            </a:lvl7pPr>
            <a:lvl8pPr marL="13228213" indent="0">
              <a:buNone/>
              <a:defRPr sz="6613" b="1"/>
            </a:lvl8pPr>
            <a:lvl9pPr marL="15117958" indent="0">
              <a:buNone/>
              <a:defRPr sz="66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0354310"/>
            <a:ext cx="21769390" cy="152296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741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8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4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889760"/>
            <a:ext cx="16515395" cy="6614160"/>
          </a:xfrm>
        </p:spPr>
        <p:txBody>
          <a:bodyPr anchor="b"/>
          <a:lstStyle>
            <a:lvl1pPr>
              <a:defRPr sz="132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4081359"/>
            <a:ext cx="25923240" cy="20144317"/>
          </a:xfrm>
        </p:spPr>
        <p:txBody>
          <a:bodyPr/>
          <a:lstStyle>
            <a:lvl1pPr>
              <a:defRPr sz="13227"/>
            </a:lvl1pPr>
            <a:lvl2pPr>
              <a:defRPr sz="11573"/>
            </a:lvl2pPr>
            <a:lvl3pPr>
              <a:defRPr sz="9920"/>
            </a:lvl3pPr>
            <a:lvl4pPr>
              <a:defRPr sz="8267"/>
            </a:lvl4pPr>
            <a:lvl5pPr>
              <a:defRPr sz="8267"/>
            </a:lvl5pPr>
            <a:lvl6pPr>
              <a:defRPr sz="8267"/>
            </a:lvl6pPr>
            <a:lvl7pPr>
              <a:defRPr sz="8267"/>
            </a:lvl7pPr>
            <a:lvl8pPr>
              <a:defRPr sz="8267"/>
            </a:lvl8pPr>
            <a:lvl9pPr>
              <a:defRPr sz="8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8503920"/>
            <a:ext cx="16515395" cy="15754564"/>
          </a:xfrm>
        </p:spPr>
        <p:txBody>
          <a:bodyPr/>
          <a:lstStyle>
            <a:lvl1pPr marL="0" indent="0">
              <a:buNone/>
              <a:defRPr sz="6613"/>
            </a:lvl1pPr>
            <a:lvl2pPr marL="1889745" indent="0">
              <a:buNone/>
              <a:defRPr sz="5787"/>
            </a:lvl2pPr>
            <a:lvl3pPr marL="3779490" indent="0">
              <a:buNone/>
              <a:defRPr sz="4960"/>
            </a:lvl3pPr>
            <a:lvl4pPr marL="5669234" indent="0">
              <a:buNone/>
              <a:defRPr sz="4133"/>
            </a:lvl4pPr>
            <a:lvl5pPr marL="7558979" indent="0">
              <a:buNone/>
              <a:defRPr sz="4133"/>
            </a:lvl5pPr>
            <a:lvl6pPr marL="9448724" indent="0">
              <a:buNone/>
              <a:defRPr sz="4133"/>
            </a:lvl6pPr>
            <a:lvl7pPr marL="11338469" indent="0">
              <a:buNone/>
              <a:defRPr sz="4133"/>
            </a:lvl7pPr>
            <a:lvl8pPr marL="13228213" indent="0">
              <a:buNone/>
              <a:defRPr sz="4133"/>
            </a:lvl8pPr>
            <a:lvl9pPr marL="15117958" indent="0">
              <a:buNone/>
              <a:defRPr sz="4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3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889760"/>
            <a:ext cx="16515395" cy="6614160"/>
          </a:xfrm>
        </p:spPr>
        <p:txBody>
          <a:bodyPr anchor="b"/>
          <a:lstStyle>
            <a:lvl1pPr>
              <a:defRPr sz="132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4081359"/>
            <a:ext cx="25923240" cy="20144317"/>
          </a:xfrm>
        </p:spPr>
        <p:txBody>
          <a:bodyPr anchor="t"/>
          <a:lstStyle>
            <a:lvl1pPr marL="0" indent="0">
              <a:buNone/>
              <a:defRPr sz="13227"/>
            </a:lvl1pPr>
            <a:lvl2pPr marL="1889745" indent="0">
              <a:buNone/>
              <a:defRPr sz="11573"/>
            </a:lvl2pPr>
            <a:lvl3pPr marL="3779490" indent="0">
              <a:buNone/>
              <a:defRPr sz="9920"/>
            </a:lvl3pPr>
            <a:lvl4pPr marL="5669234" indent="0">
              <a:buNone/>
              <a:defRPr sz="8267"/>
            </a:lvl4pPr>
            <a:lvl5pPr marL="7558979" indent="0">
              <a:buNone/>
              <a:defRPr sz="8267"/>
            </a:lvl5pPr>
            <a:lvl6pPr marL="9448724" indent="0">
              <a:buNone/>
              <a:defRPr sz="8267"/>
            </a:lvl6pPr>
            <a:lvl7pPr marL="11338469" indent="0">
              <a:buNone/>
              <a:defRPr sz="8267"/>
            </a:lvl7pPr>
            <a:lvl8pPr marL="13228213" indent="0">
              <a:buNone/>
              <a:defRPr sz="8267"/>
            </a:lvl8pPr>
            <a:lvl9pPr marL="15117958" indent="0">
              <a:buNone/>
              <a:defRPr sz="8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8503920"/>
            <a:ext cx="16515395" cy="15754564"/>
          </a:xfrm>
        </p:spPr>
        <p:txBody>
          <a:bodyPr/>
          <a:lstStyle>
            <a:lvl1pPr marL="0" indent="0">
              <a:buNone/>
              <a:defRPr sz="6613"/>
            </a:lvl1pPr>
            <a:lvl2pPr marL="1889745" indent="0">
              <a:buNone/>
              <a:defRPr sz="5787"/>
            </a:lvl2pPr>
            <a:lvl3pPr marL="3779490" indent="0">
              <a:buNone/>
              <a:defRPr sz="4960"/>
            </a:lvl3pPr>
            <a:lvl4pPr marL="5669234" indent="0">
              <a:buNone/>
              <a:defRPr sz="4133"/>
            </a:lvl4pPr>
            <a:lvl5pPr marL="7558979" indent="0">
              <a:buNone/>
              <a:defRPr sz="4133"/>
            </a:lvl5pPr>
            <a:lvl6pPr marL="9448724" indent="0">
              <a:buNone/>
              <a:defRPr sz="4133"/>
            </a:lvl6pPr>
            <a:lvl7pPr marL="11338469" indent="0">
              <a:buNone/>
              <a:defRPr sz="4133"/>
            </a:lvl7pPr>
            <a:lvl8pPr marL="13228213" indent="0">
              <a:buNone/>
              <a:defRPr sz="4133"/>
            </a:lvl8pPr>
            <a:lvl9pPr marL="15117958" indent="0">
              <a:buNone/>
              <a:defRPr sz="4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22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5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509183"/>
            <a:ext cx="11041380" cy="240222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1509183"/>
            <a:ext cx="32484060" cy="240222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7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9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1509185"/>
            <a:ext cx="44165520" cy="54789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7545917"/>
            <a:ext cx="44165520" cy="1798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26272916"/>
            <a:ext cx="11521440" cy="1509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E20F1-96C7-4B13-8242-57260FF48CA9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26272916"/>
            <a:ext cx="17282160" cy="1509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26272916"/>
            <a:ext cx="11521440" cy="1509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89B56-F44E-4115-9FCB-65E7139CB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7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779490" rtl="0" eaLnBrk="1" latinLnBrk="0" hangingPunct="1">
        <a:lnSpc>
          <a:spcPct val="90000"/>
        </a:lnSpc>
        <a:spcBef>
          <a:spcPct val="0"/>
        </a:spcBef>
        <a:buNone/>
        <a:defRPr sz="181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4872" indent="-944872" algn="l" defTabSz="3779490" rtl="0" eaLnBrk="1" latinLnBrk="0" hangingPunct="1">
        <a:lnSpc>
          <a:spcPct val="90000"/>
        </a:lnSpc>
        <a:spcBef>
          <a:spcPts val="4133"/>
        </a:spcBef>
        <a:buFont typeface="Arial" panose="020B0604020202020204" pitchFamily="34" charset="0"/>
        <a:buChar char="•"/>
        <a:defRPr sz="11573" kern="1200">
          <a:solidFill>
            <a:schemeClr val="tx1"/>
          </a:solidFill>
          <a:latin typeface="+mn-lt"/>
          <a:ea typeface="+mn-ea"/>
          <a:cs typeface="+mn-cs"/>
        </a:defRPr>
      </a:lvl1pPr>
      <a:lvl2pPr marL="2834617" indent="-944872" algn="l" defTabSz="3779490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9920" kern="1200">
          <a:solidFill>
            <a:schemeClr val="tx1"/>
          </a:solidFill>
          <a:latin typeface="+mn-lt"/>
          <a:ea typeface="+mn-ea"/>
          <a:cs typeface="+mn-cs"/>
        </a:defRPr>
      </a:lvl2pPr>
      <a:lvl3pPr marL="4724362" indent="-944872" algn="l" defTabSz="3779490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8267" kern="1200">
          <a:solidFill>
            <a:schemeClr val="tx1"/>
          </a:solidFill>
          <a:latin typeface="+mn-lt"/>
          <a:ea typeface="+mn-ea"/>
          <a:cs typeface="+mn-cs"/>
        </a:defRPr>
      </a:lvl3pPr>
      <a:lvl4pPr marL="6614107" indent="-944872" algn="l" defTabSz="3779490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0" kern="1200">
          <a:solidFill>
            <a:schemeClr val="tx1"/>
          </a:solidFill>
          <a:latin typeface="+mn-lt"/>
          <a:ea typeface="+mn-ea"/>
          <a:cs typeface="+mn-cs"/>
        </a:defRPr>
      </a:lvl4pPr>
      <a:lvl5pPr marL="8503851" indent="-944872" algn="l" defTabSz="3779490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0" kern="1200">
          <a:solidFill>
            <a:schemeClr val="tx1"/>
          </a:solidFill>
          <a:latin typeface="+mn-lt"/>
          <a:ea typeface="+mn-ea"/>
          <a:cs typeface="+mn-cs"/>
        </a:defRPr>
      </a:lvl5pPr>
      <a:lvl6pPr marL="10393596" indent="-944872" algn="l" defTabSz="3779490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0" kern="1200">
          <a:solidFill>
            <a:schemeClr val="tx1"/>
          </a:solidFill>
          <a:latin typeface="+mn-lt"/>
          <a:ea typeface="+mn-ea"/>
          <a:cs typeface="+mn-cs"/>
        </a:defRPr>
      </a:lvl6pPr>
      <a:lvl7pPr marL="12283341" indent="-944872" algn="l" defTabSz="3779490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0" kern="1200">
          <a:solidFill>
            <a:schemeClr val="tx1"/>
          </a:solidFill>
          <a:latin typeface="+mn-lt"/>
          <a:ea typeface="+mn-ea"/>
          <a:cs typeface="+mn-cs"/>
        </a:defRPr>
      </a:lvl7pPr>
      <a:lvl8pPr marL="14173086" indent="-944872" algn="l" defTabSz="3779490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0" kern="1200">
          <a:solidFill>
            <a:schemeClr val="tx1"/>
          </a:solidFill>
          <a:latin typeface="+mn-lt"/>
          <a:ea typeface="+mn-ea"/>
          <a:cs typeface="+mn-cs"/>
        </a:defRPr>
      </a:lvl8pPr>
      <a:lvl9pPr marL="16062830" indent="-944872" algn="l" defTabSz="3779490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9490" rtl="0" eaLnBrk="1" latinLnBrk="0" hangingPunct="1">
        <a:defRPr sz="7440" kern="1200">
          <a:solidFill>
            <a:schemeClr val="tx1"/>
          </a:solidFill>
          <a:latin typeface="+mn-lt"/>
          <a:ea typeface="+mn-ea"/>
          <a:cs typeface="+mn-cs"/>
        </a:defRPr>
      </a:lvl1pPr>
      <a:lvl2pPr marL="1889745" algn="l" defTabSz="3779490" rtl="0" eaLnBrk="1" latinLnBrk="0" hangingPunct="1">
        <a:defRPr sz="7440" kern="1200">
          <a:solidFill>
            <a:schemeClr val="tx1"/>
          </a:solidFill>
          <a:latin typeface="+mn-lt"/>
          <a:ea typeface="+mn-ea"/>
          <a:cs typeface="+mn-cs"/>
        </a:defRPr>
      </a:lvl2pPr>
      <a:lvl3pPr marL="3779490" algn="l" defTabSz="3779490" rtl="0" eaLnBrk="1" latinLnBrk="0" hangingPunct="1">
        <a:defRPr sz="7440" kern="1200">
          <a:solidFill>
            <a:schemeClr val="tx1"/>
          </a:solidFill>
          <a:latin typeface="+mn-lt"/>
          <a:ea typeface="+mn-ea"/>
          <a:cs typeface="+mn-cs"/>
        </a:defRPr>
      </a:lvl3pPr>
      <a:lvl4pPr marL="5669234" algn="l" defTabSz="3779490" rtl="0" eaLnBrk="1" latinLnBrk="0" hangingPunct="1">
        <a:defRPr sz="7440" kern="1200">
          <a:solidFill>
            <a:schemeClr val="tx1"/>
          </a:solidFill>
          <a:latin typeface="+mn-lt"/>
          <a:ea typeface="+mn-ea"/>
          <a:cs typeface="+mn-cs"/>
        </a:defRPr>
      </a:lvl4pPr>
      <a:lvl5pPr marL="7558979" algn="l" defTabSz="3779490" rtl="0" eaLnBrk="1" latinLnBrk="0" hangingPunct="1">
        <a:defRPr sz="7440" kern="1200">
          <a:solidFill>
            <a:schemeClr val="tx1"/>
          </a:solidFill>
          <a:latin typeface="+mn-lt"/>
          <a:ea typeface="+mn-ea"/>
          <a:cs typeface="+mn-cs"/>
        </a:defRPr>
      </a:lvl5pPr>
      <a:lvl6pPr marL="9448724" algn="l" defTabSz="3779490" rtl="0" eaLnBrk="1" latinLnBrk="0" hangingPunct="1">
        <a:defRPr sz="7440" kern="1200">
          <a:solidFill>
            <a:schemeClr val="tx1"/>
          </a:solidFill>
          <a:latin typeface="+mn-lt"/>
          <a:ea typeface="+mn-ea"/>
          <a:cs typeface="+mn-cs"/>
        </a:defRPr>
      </a:lvl6pPr>
      <a:lvl7pPr marL="11338469" algn="l" defTabSz="3779490" rtl="0" eaLnBrk="1" latinLnBrk="0" hangingPunct="1">
        <a:defRPr sz="7440" kern="1200">
          <a:solidFill>
            <a:schemeClr val="tx1"/>
          </a:solidFill>
          <a:latin typeface="+mn-lt"/>
          <a:ea typeface="+mn-ea"/>
          <a:cs typeface="+mn-cs"/>
        </a:defRPr>
      </a:lvl7pPr>
      <a:lvl8pPr marL="13228213" algn="l" defTabSz="3779490" rtl="0" eaLnBrk="1" latinLnBrk="0" hangingPunct="1">
        <a:defRPr sz="7440" kern="1200">
          <a:solidFill>
            <a:schemeClr val="tx1"/>
          </a:solidFill>
          <a:latin typeface="+mn-lt"/>
          <a:ea typeface="+mn-ea"/>
          <a:cs typeface="+mn-cs"/>
        </a:defRPr>
      </a:lvl8pPr>
      <a:lvl9pPr marL="15117958" algn="l" defTabSz="3779490" rtl="0" eaLnBrk="1" latinLnBrk="0" hangingPunct="1">
        <a:defRPr sz="7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hyperlink" Target="https://www.kaggle.com/datasets/pavansubhasht/ibm-hr-analytics-attrition-dataset" TargetMode="External"/><Relationship Id="rId7" Type="http://schemas.openxmlformats.org/officeDocument/2006/relationships/image" Target="../media/image4.jpg"/><Relationship Id="rId2" Type="http://schemas.openxmlformats.org/officeDocument/2006/relationships/hyperlink" Target="https://public.tableau.com/app/profile/emam.abu.haifa/viz/shared/P8WFBT48X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AE71FDCD-8944-D398-C107-D9106D222516}"/>
              </a:ext>
            </a:extLst>
          </p:cNvPr>
          <p:cNvSpPr/>
          <p:nvPr/>
        </p:nvSpPr>
        <p:spPr>
          <a:xfrm>
            <a:off x="13825476" y="5153561"/>
            <a:ext cx="24469848" cy="21816204"/>
          </a:xfrm>
          <a:prstGeom prst="rect">
            <a:avLst/>
          </a:prstGeom>
          <a:solidFill>
            <a:srgbClr val="C4E4FF"/>
          </a:solidFill>
          <a:ln>
            <a:solidFill>
              <a:srgbClr val="CC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FDFBF-5C6E-ADC1-D940-F29C226D91D4}"/>
              </a:ext>
            </a:extLst>
          </p:cNvPr>
          <p:cNvSpPr txBox="1"/>
          <p:nvPr/>
        </p:nvSpPr>
        <p:spPr>
          <a:xfrm>
            <a:off x="1066799" y="617757"/>
            <a:ext cx="11734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500" b="1" dirty="0">
                <a:solidFill>
                  <a:srgbClr val="CCD6E0"/>
                </a:solidFill>
                <a:latin typeface="Benton Sans"/>
              </a:rPr>
              <a:t>Employee</a:t>
            </a:r>
            <a:r>
              <a:rPr lang="en-US" sz="9600" b="1" i="0" dirty="0">
                <a:solidFill>
                  <a:srgbClr val="CCD6E0"/>
                </a:solidFill>
                <a:effectLst/>
                <a:latin typeface="Benton Sans"/>
              </a:rPr>
              <a:t> </a:t>
            </a:r>
            <a:r>
              <a:rPr lang="en-US" sz="11500" b="1" dirty="0">
                <a:solidFill>
                  <a:srgbClr val="CCD6E0"/>
                </a:solidFill>
                <a:latin typeface="Benton Sans"/>
              </a:rPr>
              <a:t>Attrition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EC6F83-C8E3-B241-35EE-1B85E5F61605}"/>
              </a:ext>
            </a:extLst>
          </p:cNvPr>
          <p:cNvCxnSpPr>
            <a:cxnSpLocks/>
          </p:cNvCxnSpPr>
          <p:nvPr/>
        </p:nvCxnSpPr>
        <p:spPr>
          <a:xfrm>
            <a:off x="1009649" y="2479805"/>
            <a:ext cx="11772900" cy="0"/>
          </a:xfrm>
          <a:prstGeom prst="line">
            <a:avLst/>
          </a:prstGeom>
          <a:ln w="165100">
            <a:solidFill>
              <a:srgbClr val="CC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E42D6F-F8E5-1A9E-90B5-0703E22BBBF8}"/>
              </a:ext>
            </a:extLst>
          </p:cNvPr>
          <p:cNvCxnSpPr>
            <a:cxnSpLocks/>
          </p:cNvCxnSpPr>
          <p:nvPr/>
        </p:nvCxnSpPr>
        <p:spPr>
          <a:xfrm>
            <a:off x="12725400" y="2481531"/>
            <a:ext cx="1866900" cy="1633269"/>
          </a:xfrm>
          <a:prstGeom prst="line">
            <a:avLst/>
          </a:prstGeom>
          <a:ln w="165100">
            <a:solidFill>
              <a:srgbClr val="CC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C8284E-5F31-D852-3ED2-B8B434756DD3}"/>
              </a:ext>
            </a:extLst>
          </p:cNvPr>
          <p:cNvCxnSpPr/>
          <p:nvPr/>
        </p:nvCxnSpPr>
        <p:spPr>
          <a:xfrm>
            <a:off x="14554200" y="4076700"/>
            <a:ext cx="34899600" cy="0"/>
          </a:xfrm>
          <a:prstGeom prst="line">
            <a:avLst/>
          </a:prstGeom>
          <a:ln w="165100">
            <a:solidFill>
              <a:srgbClr val="CC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203F61A-5A6E-B498-6074-ACC585854619}"/>
              </a:ext>
            </a:extLst>
          </p:cNvPr>
          <p:cNvSpPr txBox="1"/>
          <p:nvPr/>
        </p:nvSpPr>
        <p:spPr>
          <a:xfrm>
            <a:off x="1257299" y="2529800"/>
            <a:ext cx="125920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D8C4B6"/>
                </a:solidFill>
                <a:latin typeface="Benton Sans"/>
              </a:rPr>
              <a:t>By Emam Mohsen</a:t>
            </a:r>
          </a:p>
          <a:p>
            <a:pPr lvl="2"/>
            <a:r>
              <a:rPr lang="en-US" sz="4400" b="1" dirty="0">
                <a:solidFill>
                  <a:srgbClr val="D8C4B6"/>
                </a:solidFill>
                <a:latin typeface="Benton Sans"/>
              </a:rPr>
              <a:t>Fellow at Correlation One: Tech for jobs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94F29A-3700-2829-C60F-5D9FA9CB1365}"/>
              </a:ext>
            </a:extLst>
          </p:cNvPr>
          <p:cNvSpPr txBox="1"/>
          <p:nvPr/>
        </p:nvSpPr>
        <p:spPr>
          <a:xfrm>
            <a:off x="15621000" y="2131875"/>
            <a:ext cx="4438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CCD6E0"/>
                </a:solidFill>
                <a:latin typeface="Benton Sans"/>
              </a:rPr>
              <a:t>Average Age </a:t>
            </a:r>
            <a:r>
              <a:rPr lang="en-US" sz="6000" b="1" dirty="0">
                <a:solidFill>
                  <a:srgbClr val="D8C4B6"/>
                </a:solidFill>
                <a:latin typeface="Benton Sans"/>
              </a:rPr>
              <a:t>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8FE75-9F91-1666-82C4-A04B26B671FB}"/>
              </a:ext>
            </a:extLst>
          </p:cNvPr>
          <p:cNvSpPr txBox="1"/>
          <p:nvPr/>
        </p:nvSpPr>
        <p:spPr>
          <a:xfrm>
            <a:off x="22098000" y="2169975"/>
            <a:ext cx="50863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CCD6E0"/>
                </a:solidFill>
                <a:latin typeface="Benton Sans"/>
              </a:rPr>
              <a:t>Attrition Count  </a:t>
            </a:r>
            <a:br>
              <a:rPr lang="en-US" sz="6000" b="1" dirty="0">
                <a:solidFill>
                  <a:srgbClr val="CCD6E0"/>
                </a:solidFill>
                <a:latin typeface="Benton Sans"/>
              </a:rPr>
            </a:br>
            <a:r>
              <a:rPr lang="en-US" sz="6000" b="1" dirty="0">
                <a:solidFill>
                  <a:srgbClr val="D8C4B6"/>
                </a:solidFill>
                <a:latin typeface="Benton Sans"/>
              </a:rPr>
              <a:t>237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03FE91-5DEB-BDBC-CAB3-D3B32A74FBDD}"/>
              </a:ext>
            </a:extLst>
          </p:cNvPr>
          <p:cNvSpPr txBox="1"/>
          <p:nvPr/>
        </p:nvSpPr>
        <p:spPr>
          <a:xfrm>
            <a:off x="37693187" y="2059783"/>
            <a:ext cx="5410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CCD6E0"/>
                </a:solidFill>
                <a:latin typeface="Benton Sans"/>
              </a:rPr>
              <a:t>Total Employees </a:t>
            </a:r>
            <a:r>
              <a:rPr lang="en-US" sz="6000" b="1" dirty="0">
                <a:solidFill>
                  <a:srgbClr val="D8C4B6"/>
                </a:solidFill>
                <a:latin typeface="Benton Sans"/>
              </a:rPr>
              <a:t>1,470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80C57-BC68-9602-C86C-BD842F738599}"/>
              </a:ext>
            </a:extLst>
          </p:cNvPr>
          <p:cNvSpPr txBox="1"/>
          <p:nvPr/>
        </p:nvSpPr>
        <p:spPr>
          <a:xfrm>
            <a:off x="29489400" y="2093774"/>
            <a:ext cx="62865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CCD6E0"/>
                </a:solidFill>
                <a:latin typeface="Benton Sans"/>
              </a:rPr>
              <a:t>Active Employees </a:t>
            </a:r>
            <a:r>
              <a:rPr lang="en-US" sz="6000" b="1" dirty="0">
                <a:solidFill>
                  <a:srgbClr val="D8C4B6"/>
                </a:solidFill>
                <a:latin typeface="Benton Sans"/>
              </a:rPr>
              <a:t>1,233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48EEEB-F09F-5C06-C28F-0D5AAFA6DC5C}"/>
              </a:ext>
            </a:extLst>
          </p:cNvPr>
          <p:cNvSpPr/>
          <p:nvPr/>
        </p:nvSpPr>
        <p:spPr>
          <a:xfrm>
            <a:off x="39395400" y="5384649"/>
            <a:ext cx="10858500" cy="3101281"/>
          </a:xfrm>
          <a:prstGeom prst="rect">
            <a:avLst/>
          </a:prstGeom>
          <a:noFill/>
          <a:ln w="165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solidFill>
                  <a:srgbClr val="D8C4B6"/>
                </a:solidFill>
                <a:latin typeface="Benton Sans"/>
              </a:rPr>
              <a:t>Highlights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srgbClr val="CCD6E0"/>
                </a:solidFill>
                <a:latin typeface="Benton Sans"/>
              </a:rPr>
              <a:t>Employee attrition is a major challenge for organizations, impacting productivity, morale, and financial stability. High turnover rates can lead to increased hiring costs, lost expertise, and disruptions in business operations..</a:t>
            </a:r>
          </a:p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1E0288-BC33-4B8B-E703-33988183B6AF}"/>
              </a:ext>
            </a:extLst>
          </p:cNvPr>
          <p:cNvSpPr/>
          <p:nvPr/>
        </p:nvSpPr>
        <p:spPr>
          <a:xfrm>
            <a:off x="39395400" y="9586393"/>
            <a:ext cx="10858500" cy="7284842"/>
          </a:xfrm>
          <a:prstGeom prst="rect">
            <a:avLst/>
          </a:prstGeom>
          <a:noFill/>
          <a:ln w="165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6000" b="1" dirty="0">
                <a:solidFill>
                  <a:srgbClr val="D8C4B6"/>
                </a:solidFill>
                <a:latin typeface="Benton Sans"/>
              </a:rPr>
              <a:t>NEXT STEPS</a:t>
            </a:r>
          </a:p>
          <a:p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Build a Predictive Attrition Model (Classification)</a:t>
            </a:r>
          </a:p>
          <a:p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Goal: Predict the probability of attrition for each employee.</a:t>
            </a:r>
          </a:p>
          <a:p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Use models like Logistic Regression, Random Forest, or XGBoost</a:t>
            </a:r>
          </a:p>
          <a:p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Train on historical data (Attrition as target)</a:t>
            </a:r>
          </a:p>
          <a:p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Value: Enables HR to proactively retain high-risk employees.</a:t>
            </a:r>
            <a:endParaRPr lang="en-US" sz="4400" b="1" dirty="0">
              <a:solidFill>
                <a:srgbClr val="CCD6E0"/>
              </a:solidFill>
              <a:latin typeface="Benton San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E81DDB-F724-A89B-9557-9BB5ACDEA008}"/>
              </a:ext>
            </a:extLst>
          </p:cNvPr>
          <p:cNvSpPr/>
          <p:nvPr/>
        </p:nvSpPr>
        <p:spPr>
          <a:xfrm>
            <a:off x="1028699" y="4312056"/>
            <a:ext cx="11772900" cy="8098238"/>
          </a:xfrm>
          <a:prstGeom prst="rect">
            <a:avLst/>
          </a:prstGeom>
          <a:noFill/>
          <a:ln w="165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6000" b="1" dirty="0">
                <a:solidFill>
                  <a:srgbClr val="D8C4B6"/>
                </a:solidFill>
                <a:latin typeface="Benton Sans"/>
              </a:rPr>
              <a:t>Business Context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Why Attrition Matters ??</a:t>
            </a:r>
            <a:br>
              <a:rPr lang="en-US" altLang="en-US" sz="4400" b="1" dirty="0">
                <a:solidFill>
                  <a:srgbClr val="CCD6E0"/>
                </a:solidFill>
                <a:latin typeface="Benton Sans"/>
              </a:rPr>
            </a:b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Employee attrition impacts more than HR — it affects productivity, culture, and profitability</a:t>
            </a:r>
            <a:br>
              <a:rPr lang="en-US" altLang="en-US" sz="4400" b="1" dirty="0">
                <a:solidFill>
                  <a:srgbClr val="CCD6E0"/>
                </a:solidFill>
                <a:latin typeface="Benton Sans"/>
              </a:rPr>
            </a:b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High turnover leads to:</a:t>
            </a:r>
            <a:br>
              <a:rPr lang="en-US" altLang="en-US" sz="4400" b="1" dirty="0">
                <a:solidFill>
                  <a:srgbClr val="CCD6E0"/>
                </a:solidFill>
                <a:latin typeface="Benton Sans"/>
              </a:rPr>
            </a:b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Increased hiring and training costs</a:t>
            </a:r>
            <a:br>
              <a:rPr lang="en-US" altLang="en-US" sz="4400" b="1" dirty="0">
                <a:solidFill>
                  <a:srgbClr val="CCD6E0"/>
                </a:solidFill>
                <a:latin typeface="Benton Sans"/>
              </a:rPr>
            </a:b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Loss of knowledge and experience</a:t>
            </a:r>
            <a:br>
              <a:rPr lang="en-US" altLang="en-US" sz="4400" b="1" dirty="0">
                <a:solidFill>
                  <a:srgbClr val="CCD6E0"/>
                </a:solidFill>
                <a:latin typeface="Benton Sans"/>
              </a:rPr>
            </a:b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Disruption in operations and team morale</a:t>
            </a:r>
            <a:br>
              <a:rPr lang="en-US" altLang="en-US" sz="4400" b="1" dirty="0">
                <a:solidFill>
                  <a:srgbClr val="CCD6E0"/>
                </a:solidFill>
                <a:latin typeface="Benton Sans"/>
              </a:rPr>
            </a:b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Replacing one employee can cost 30–150% </a:t>
            </a:r>
            <a:r>
              <a:rPr lang="en-US" altLang="en-US" sz="5000" b="1" dirty="0">
                <a:solidFill>
                  <a:srgbClr val="CCD6E0"/>
                </a:solidFill>
                <a:latin typeface="Benton Sans"/>
              </a:rPr>
              <a:t>of </a:t>
            </a: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their annual salary.</a:t>
            </a:r>
            <a:endParaRPr lang="en-US" sz="4400" b="1" dirty="0">
              <a:solidFill>
                <a:srgbClr val="CCD6E0"/>
              </a:solidFill>
              <a:latin typeface="Benton San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4C3634-0F23-99C5-A0F5-695B08B2A48C}"/>
              </a:ext>
            </a:extLst>
          </p:cNvPr>
          <p:cNvSpPr/>
          <p:nvPr/>
        </p:nvSpPr>
        <p:spPr>
          <a:xfrm>
            <a:off x="835559" y="24276489"/>
            <a:ext cx="12901447" cy="1763037"/>
          </a:xfrm>
          <a:prstGeom prst="rect">
            <a:avLst/>
          </a:prstGeom>
          <a:noFill/>
          <a:ln w="165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CCD6E0"/>
                </a:solidFill>
                <a:latin typeface="Benton Sans"/>
              </a:rPr>
              <a:t>For more information from the Interactive </a:t>
            </a:r>
            <a:r>
              <a:rPr lang="en-US" sz="4400" b="1" dirty="0">
                <a:solidFill>
                  <a:srgbClr val="CCD6E0"/>
                </a:solidFill>
                <a:latin typeface="Bento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r>
              <a:rPr lang="en-US" sz="4400" b="1" dirty="0">
                <a:solidFill>
                  <a:srgbClr val="CCD6E0"/>
                </a:solidFill>
                <a:latin typeface="Benton Sans"/>
              </a:rPr>
              <a:t>. </a:t>
            </a:r>
          </a:p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F8C37D-A8C9-B931-4327-44FC684541B7}"/>
              </a:ext>
            </a:extLst>
          </p:cNvPr>
          <p:cNvSpPr/>
          <p:nvPr/>
        </p:nvSpPr>
        <p:spPr>
          <a:xfrm>
            <a:off x="835559" y="13509337"/>
            <a:ext cx="11734800" cy="3748372"/>
          </a:xfrm>
          <a:prstGeom prst="rect">
            <a:avLst/>
          </a:prstGeom>
          <a:noFill/>
          <a:ln w="165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6000" b="1" dirty="0">
                <a:solidFill>
                  <a:srgbClr val="D8C4B6"/>
                </a:solidFill>
                <a:latin typeface="Benton Sans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The percentage of employees who leave (attrition) is 16%, which is lower than the 84% who stay  a positive sign. However, it's essential to understand the causes behind this attrition.</a:t>
            </a:r>
            <a:br>
              <a:rPr lang="en-US" altLang="en-US" sz="5400" b="1" dirty="0">
                <a:solidFill>
                  <a:srgbClr val="CCD6E0"/>
                </a:solidFill>
                <a:latin typeface="Benton Sans"/>
              </a:rPr>
            </a:br>
            <a:endParaRPr lang="en-US" altLang="en-US" sz="5400" b="1" dirty="0">
              <a:solidFill>
                <a:srgbClr val="CCD6E0"/>
              </a:solidFill>
              <a:latin typeface="Benton Sans"/>
            </a:endParaRPr>
          </a:p>
          <a:p>
            <a:pPr algn="ctr"/>
            <a:endParaRPr lang="en-US" sz="28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841CD7-F527-EBEB-EAB4-DB16C30AC9D0}"/>
              </a:ext>
            </a:extLst>
          </p:cNvPr>
          <p:cNvSpPr/>
          <p:nvPr/>
        </p:nvSpPr>
        <p:spPr>
          <a:xfrm>
            <a:off x="835559" y="17452278"/>
            <a:ext cx="11772900" cy="6248400"/>
          </a:xfrm>
          <a:prstGeom prst="rect">
            <a:avLst/>
          </a:prstGeom>
          <a:noFill/>
          <a:ln w="165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6000" b="1" dirty="0">
                <a:solidFill>
                  <a:srgbClr val="D8C4B6"/>
                </a:solidFill>
                <a:latin typeface="Benton Sans"/>
              </a:rPr>
              <a:t>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The dataset, sourced from </a:t>
            </a:r>
            <a:r>
              <a:rPr lang="en-US" altLang="en-US" sz="4400" b="1" dirty="0">
                <a:solidFill>
                  <a:srgbClr val="CCD6E0"/>
                </a:solidFill>
                <a:latin typeface="Bento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  <a:r>
              <a:rPr lang="en-US" altLang="en-US" sz="4400" b="1" dirty="0">
                <a:solidFill>
                  <a:srgbClr val="CCD6E0"/>
                </a:solidFill>
                <a:latin typeface="Benton Sans"/>
              </a:rPr>
              <a:t>, Uncover the factors that lead to employee attrition and explore important questions such as ‘show me a breakdown of distance from home by job role and attrition’ or ‘compare average monthly income by education and attrition’. This is a fictional data set created by IBM data scientists.</a:t>
            </a:r>
            <a:endParaRPr lang="en-US" sz="4400" b="1" dirty="0">
              <a:solidFill>
                <a:srgbClr val="CCD6E0"/>
              </a:solidFill>
              <a:latin typeface="Benton Sans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BA9EED5-DD40-8FED-6E64-883876137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0" t="2661" r="1650" b="6563"/>
          <a:stretch/>
        </p:blipFill>
        <p:spPr>
          <a:xfrm>
            <a:off x="14554199" y="20576478"/>
            <a:ext cx="9951563" cy="5561847"/>
          </a:xfrm>
          <a:prstGeom prst="rect">
            <a:avLst/>
          </a:prstGeom>
        </p:spPr>
      </p:pic>
      <p:pic>
        <p:nvPicPr>
          <p:cNvPr id="43" name="Picture 42" descr="A blue rectangular object with text&#10;&#10;AI-generated content may be incorrect.">
            <a:extLst>
              <a:ext uri="{FF2B5EF4-FFF2-40B4-BE49-F238E27FC236}">
                <a16:creationId xmlns:a16="http://schemas.microsoft.com/office/drawing/2014/main" id="{BACCC27E-14BE-220C-EAC4-CFCFAB4A73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" t="4191" r="2855" b="4191"/>
          <a:stretch/>
        </p:blipFill>
        <p:spPr>
          <a:xfrm>
            <a:off x="25605839" y="20450015"/>
            <a:ext cx="11874912" cy="5561848"/>
          </a:xfrm>
          <a:prstGeom prst="rect">
            <a:avLst/>
          </a:prstGeom>
        </p:spPr>
      </p:pic>
      <p:pic>
        <p:nvPicPr>
          <p:cNvPr id="45" name="Picture 44" descr="A graph of sales&#10;&#10;AI-generated content may be incorrect.">
            <a:extLst>
              <a:ext uri="{FF2B5EF4-FFF2-40B4-BE49-F238E27FC236}">
                <a16:creationId xmlns:a16="http://schemas.microsoft.com/office/drawing/2014/main" id="{07CC6F70-B651-128B-8222-37D3692234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" t="3790" r="7988" b="4960"/>
          <a:stretch/>
        </p:blipFill>
        <p:spPr>
          <a:xfrm>
            <a:off x="14554199" y="14153587"/>
            <a:ext cx="10022485" cy="5561848"/>
          </a:xfrm>
          <a:prstGeom prst="rect">
            <a:avLst/>
          </a:prstGeom>
        </p:spPr>
      </p:pic>
      <p:pic>
        <p:nvPicPr>
          <p:cNvPr id="47" name="Picture 46" descr="A graph of a graph of a graph">
            <a:extLst>
              <a:ext uri="{FF2B5EF4-FFF2-40B4-BE49-F238E27FC236}">
                <a16:creationId xmlns:a16="http://schemas.microsoft.com/office/drawing/2014/main" id="{98B3C4B7-D7C9-5877-2343-153F86C4F0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" t="3527" r="2942" b="5219"/>
          <a:stretch/>
        </p:blipFill>
        <p:spPr>
          <a:xfrm>
            <a:off x="25638660" y="14173200"/>
            <a:ext cx="11803992" cy="5410200"/>
          </a:xfrm>
          <a:prstGeom prst="rect">
            <a:avLst/>
          </a:prstGeom>
        </p:spPr>
      </p:pic>
      <p:pic>
        <p:nvPicPr>
          <p:cNvPr id="50" name="Picture 49" descr="A graph of a diagram&#10;&#10;AI-generated content may be incorrect.">
            <a:extLst>
              <a:ext uri="{FF2B5EF4-FFF2-40B4-BE49-F238E27FC236}">
                <a16:creationId xmlns:a16="http://schemas.microsoft.com/office/drawing/2014/main" id="{75FB3A92-5042-91DF-7090-E5BC0B8EA8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0"/>
          <a:stretch/>
        </p:blipFill>
        <p:spPr>
          <a:xfrm>
            <a:off x="14592301" y="5831027"/>
            <a:ext cx="22888450" cy="7510733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7A8D4ADA-45FB-E0A8-579B-F27056689278}"/>
              </a:ext>
            </a:extLst>
          </p:cNvPr>
          <p:cNvSpPr/>
          <p:nvPr/>
        </p:nvSpPr>
        <p:spPr>
          <a:xfrm>
            <a:off x="39217187" y="17971698"/>
            <a:ext cx="10858500" cy="8953500"/>
          </a:xfrm>
          <a:prstGeom prst="rect">
            <a:avLst/>
          </a:prstGeom>
          <a:noFill/>
          <a:ln w="165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6000" b="1" dirty="0">
                <a:solidFill>
                  <a:srgbClr val="D8C4B6"/>
                </a:solidFill>
                <a:latin typeface="Benton Sans"/>
              </a:rPr>
              <a:t>Conclusion</a:t>
            </a:r>
          </a:p>
          <a:p>
            <a:r>
              <a:rPr lang="en-US" sz="4400" b="1" dirty="0">
                <a:solidFill>
                  <a:srgbClr val="CCD6E0"/>
                </a:solidFill>
                <a:latin typeface="Benton Sans"/>
              </a:rPr>
              <a:t>Improve workplace conditions and work-life balance to boost employee satisfaction.</a:t>
            </a:r>
          </a:p>
          <a:p>
            <a:r>
              <a:rPr lang="en-US" sz="4400" b="1" dirty="0">
                <a:solidFill>
                  <a:srgbClr val="CCD6E0"/>
                </a:solidFill>
                <a:latin typeface="Benton Sans"/>
              </a:rPr>
              <a:t> Develop structured career progression plans to support employees in early- to mid-career stages.</a:t>
            </a:r>
          </a:p>
          <a:p>
            <a:r>
              <a:rPr lang="en-US" sz="4400" b="1" dirty="0">
                <a:solidFill>
                  <a:srgbClr val="CCD6E0"/>
                </a:solidFill>
                <a:latin typeface="Benton Sans"/>
              </a:rPr>
              <a:t> Review salary structures to ensure fair compensation across job levels.</a:t>
            </a:r>
          </a:p>
          <a:p>
            <a:r>
              <a:rPr lang="en-US" sz="4400" b="1" dirty="0">
                <a:solidFill>
                  <a:srgbClr val="CCD6E0"/>
                </a:solidFill>
                <a:latin typeface="Benton Sans"/>
              </a:rPr>
              <a:t> Strengthen employee recognition programs to enhance engagement.</a:t>
            </a:r>
          </a:p>
          <a:p>
            <a:r>
              <a:rPr lang="en-US" sz="4400" b="1" dirty="0">
                <a:solidFill>
                  <a:srgbClr val="CCD6E0"/>
                </a:solidFill>
                <a:latin typeface="Benton Sans"/>
              </a:rPr>
              <a:t>Implement department-specific interventions, particularly in Sales and Research &amp; Development, to address unique attrition challenges.</a:t>
            </a:r>
          </a:p>
        </p:txBody>
      </p:sp>
    </p:spTree>
    <p:extLst>
      <p:ext uri="{BB962C8B-B14F-4D97-AF65-F5344CB8AC3E}">
        <p14:creationId xmlns:p14="http://schemas.microsoft.com/office/powerpoint/2010/main" val="2133124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349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Benton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آيه هاني جمعه ابو جميل</dc:creator>
  <cp:lastModifiedBy>emam mohsen</cp:lastModifiedBy>
  <cp:revision>2</cp:revision>
  <dcterms:created xsi:type="dcterms:W3CDTF">2025-05-07T14:52:43Z</dcterms:created>
  <dcterms:modified xsi:type="dcterms:W3CDTF">2025-05-07T17:37:32Z</dcterms:modified>
</cp:coreProperties>
</file>