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4.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5.xml" ContentType="application/vnd.openxmlformats-officedocument.drawingml.chartshapes+xml"/>
  <Override PartName="/ppt/notesSlides/notesSlide6.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6.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10"/>
  </p:notesMasterIdLst>
  <p:handoutMasterIdLst>
    <p:handoutMasterId r:id="rId11"/>
  </p:handoutMasterIdLst>
  <p:sldIdLst>
    <p:sldId id="277" r:id="rId2"/>
    <p:sldId id="268" r:id="rId3"/>
    <p:sldId id="276" r:id="rId4"/>
    <p:sldId id="274" r:id="rId5"/>
    <p:sldId id="281" r:id="rId6"/>
    <p:sldId id="272" r:id="rId7"/>
    <p:sldId id="279" r:id="rId8"/>
    <p:sldId id="280" r:id="rId9"/>
  </p:sldIdLst>
  <p:sldSz cx="12192000" cy="6858000"/>
  <p:notesSz cx="9388475" cy="7102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B0F0"/>
    <a:srgbClr val="660066"/>
    <a:srgbClr val="EFF1F3"/>
    <a:srgbClr val="D9D9D9"/>
    <a:srgbClr val="FCCDB6"/>
    <a:srgbClr val="004568"/>
    <a:srgbClr val="0074AF"/>
    <a:srgbClr val="6EAA2E"/>
    <a:srgbClr val="008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E0D4BD-92F5-4879-87A4-5D4114851165}" v="64" dt="2025-03-06T23:07:54.5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3" autoAdjust="0"/>
  </p:normalViewPr>
  <p:slideViewPr>
    <p:cSldViewPr snapToGrid="0">
      <p:cViewPr varScale="1">
        <p:scale>
          <a:sx n="109" d="100"/>
          <a:sy n="109" d="100"/>
        </p:scale>
        <p:origin x="102" y="-3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2" d="100"/>
        <a:sy n="82" d="100"/>
      </p:scale>
      <p:origin x="0" y="-82"/>
    </p:cViewPr>
  </p:sorterViewPr>
  <p:notesViewPr>
    <p:cSldViewPr snapToGrid="0">
      <p:cViewPr varScale="1">
        <p:scale>
          <a:sx n="73" d="100"/>
          <a:sy n="73" d="100"/>
        </p:scale>
        <p:origin x="583"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3652327669970796E-2"/>
          <c:w val="0.97642002866223998"/>
          <c:h val="0.93634753788677016"/>
        </c:manualLayout>
      </c:layout>
      <c:lineChart>
        <c:grouping val="standard"/>
        <c:varyColors val="0"/>
        <c:ser>
          <c:idx val="0"/>
          <c:order val="0"/>
          <c:tx>
            <c:strRef>
              <c:f>Sheet1!$B$1</c:f>
              <c:strCache>
                <c:ptCount val="1"/>
                <c:pt idx="0">
                  <c:v>Series 1</c:v>
                </c:pt>
              </c:strCache>
            </c:strRef>
          </c:tx>
          <c:spPr>
            <a:ln w="50800" cap="rnd">
              <a:solidFill>
                <a:schemeClr val="bg1"/>
              </a:solidFill>
              <a:round/>
            </a:ln>
            <a:effectLst/>
          </c:spPr>
          <c:marker>
            <c:symbol val="circle"/>
            <c:size val="10"/>
            <c:spPr>
              <a:solidFill>
                <a:schemeClr val="tx1"/>
              </a:solidFill>
              <a:ln w="50800">
                <a:solidFill>
                  <a:schemeClr val="bg1"/>
                </a:solidFill>
              </a:ln>
              <a:effectLst/>
            </c:spPr>
          </c:marker>
          <c:dPt>
            <c:idx val="4"/>
            <c:marker>
              <c:symbol val="circle"/>
              <c:size val="10"/>
              <c:spPr>
                <a:solidFill>
                  <a:schemeClr val="tx1"/>
                </a:solidFill>
                <a:ln w="50800">
                  <a:solidFill>
                    <a:schemeClr val="bg1"/>
                  </a:solidFill>
                </a:ln>
                <a:effectLst/>
              </c:spPr>
            </c:marker>
            <c:bubble3D val="0"/>
            <c:spPr>
              <a:ln w="50800" cap="rnd">
                <a:solidFill>
                  <a:schemeClr val="bg1"/>
                </a:solidFill>
                <a:round/>
              </a:ln>
              <a:effectLst/>
            </c:spPr>
            <c:extLst>
              <c:ext xmlns:c16="http://schemas.microsoft.com/office/drawing/2014/chart" uri="{C3380CC4-5D6E-409C-BE32-E72D297353CC}">
                <c16:uniqueId val="{00000001-839C-4AC1-8CC5-4FCE572968AA}"/>
              </c:ext>
            </c:extLst>
          </c:dPt>
          <c:cat>
            <c:strRef>
              <c:f>Sheet1!$A$2:$A$6</c:f>
              <c:strCache>
                <c:ptCount val="5"/>
                <c:pt idx="0">
                  <c:v>Category 1</c:v>
                </c:pt>
                <c:pt idx="1">
                  <c:v>Category 2</c:v>
                </c:pt>
                <c:pt idx="2">
                  <c:v>Category 3</c:v>
                </c:pt>
                <c:pt idx="3">
                  <c:v>Category 4</c:v>
                </c:pt>
                <c:pt idx="4">
                  <c:v>cata</c:v>
                </c:pt>
              </c:strCache>
            </c:strRef>
          </c:cat>
          <c:val>
            <c:numRef>
              <c:f>Sheet1!$B$2:$B$6</c:f>
              <c:numCache>
                <c:formatCode>General</c:formatCode>
                <c:ptCount val="5"/>
                <c:pt idx="0">
                  <c:v>20</c:v>
                </c:pt>
                <c:pt idx="1">
                  <c:v>18</c:v>
                </c:pt>
                <c:pt idx="2">
                  <c:v>22</c:v>
                </c:pt>
                <c:pt idx="3">
                  <c:v>15</c:v>
                </c:pt>
                <c:pt idx="4">
                  <c:v>16</c:v>
                </c:pt>
              </c:numCache>
            </c:numRef>
          </c:val>
          <c:smooth val="0"/>
          <c:extLst>
            <c:ext xmlns:c16="http://schemas.microsoft.com/office/drawing/2014/chart" uri="{C3380CC4-5D6E-409C-BE32-E72D297353CC}">
              <c16:uniqueId val="{00000002-839C-4AC1-8CC5-4FCE572968AA}"/>
            </c:ext>
          </c:extLst>
        </c:ser>
        <c:ser>
          <c:idx val="1"/>
          <c:order val="1"/>
          <c:tx>
            <c:strRef>
              <c:f>Sheet1!$C$1</c:f>
              <c:strCache>
                <c:ptCount val="1"/>
                <c:pt idx="0">
                  <c:v>Series 2</c:v>
                </c:pt>
              </c:strCache>
            </c:strRef>
          </c:tx>
          <c:spPr>
            <a:ln w="50800" cap="rnd">
              <a:solidFill>
                <a:schemeClr val="accent3"/>
              </a:solidFill>
              <a:round/>
            </a:ln>
            <a:effectLst/>
          </c:spPr>
          <c:marker>
            <c:symbol val="circle"/>
            <c:size val="10"/>
            <c:spPr>
              <a:solidFill>
                <a:schemeClr val="tx1"/>
              </a:solidFill>
              <a:ln w="50800">
                <a:solidFill>
                  <a:schemeClr val="accent3"/>
                </a:solidFill>
              </a:ln>
              <a:effectLst/>
            </c:spPr>
          </c:marker>
          <c:cat>
            <c:strRef>
              <c:f>Sheet1!$A$2:$A$6</c:f>
              <c:strCache>
                <c:ptCount val="5"/>
                <c:pt idx="0">
                  <c:v>Category 1</c:v>
                </c:pt>
                <c:pt idx="1">
                  <c:v>Category 2</c:v>
                </c:pt>
                <c:pt idx="2">
                  <c:v>Category 3</c:v>
                </c:pt>
                <c:pt idx="3">
                  <c:v>Category 4</c:v>
                </c:pt>
                <c:pt idx="4">
                  <c:v>cata</c:v>
                </c:pt>
              </c:strCache>
            </c:strRef>
          </c:cat>
          <c:val>
            <c:numRef>
              <c:f>Sheet1!$C$2:$C$6</c:f>
              <c:numCache>
                <c:formatCode>General</c:formatCode>
                <c:ptCount val="5"/>
                <c:pt idx="0">
                  <c:v>25</c:v>
                </c:pt>
                <c:pt idx="1">
                  <c:v>24</c:v>
                </c:pt>
                <c:pt idx="2">
                  <c:v>16</c:v>
                </c:pt>
                <c:pt idx="3">
                  <c:v>21</c:v>
                </c:pt>
                <c:pt idx="4">
                  <c:v>20</c:v>
                </c:pt>
              </c:numCache>
            </c:numRef>
          </c:val>
          <c:smooth val="0"/>
          <c:extLst>
            <c:ext xmlns:c16="http://schemas.microsoft.com/office/drawing/2014/chart" uri="{C3380CC4-5D6E-409C-BE32-E72D297353CC}">
              <c16:uniqueId val="{00000003-839C-4AC1-8CC5-4FCE572968AA}"/>
            </c:ext>
          </c:extLst>
        </c:ser>
        <c:ser>
          <c:idx val="2"/>
          <c:order val="2"/>
          <c:tx>
            <c:strRef>
              <c:f>Sheet1!$D$1</c:f>
              <c:strCache>
                <c:ptCount val="1"/>
                <c:pt idx="0">
                  <c:v>Series 3</c:v>
                </c:pt>
              </c:strCache>
            </c:strRef>
          </c:tx>
          <c:spPr>
            <a:ln w="76200" cap="rnd">
              <a:solidFill>
                <a:schemeClr val="bg2"/>
              </a:solidFill>
              <a:round/>
            </a:ln>
            <a:effectLst/>
          </c:spPr>
          <c:marker>
            <c:symbol val="circle"/>
            <c:size val="17"/>
            <c:spPr>
              <a:solidFill>
                <a:schemeClr val="tx1"/>
              </a:solidFill>
              <a:ln w="50800">
                <a:solidFill>
                  <a:schemeClr val="bg2"/>
                </a:solidFill>
              </a:ln>
              <a:effectLst/>
            </c:spPr>
          </c:marker>
          <c:cat>
            <c:strRef>
              <c:f>Sheet1!$A$2:$A$6</c:f>
              <c:strCache>
                <c:ptCount val="5"/>
                <c:pt idx="0">
                  <c:v>Category 1</c:v>
                </c:pt>
                <c:pt idx="1">
                  <c:v>Category 2</c:v>
                </c:pt>
                <c:pt idx="2">
                  <c:v>Category 3</c:v>
                </c:pt>
                <c:pt idx="3">
                  <c:v>Category 4</c:v>
                </c:pt>
                <c:pt idx="4">
                  <c:v>cata</c:v>
                </c:pt>
              </c:strCache>
            </c:strRef>
          </c:cat>
          <c:val>
            <c:numRef>
              <c:f>Sheet1!$D$2:$D$6</c:f>
              <c:numCache>
                <c:formatCode>General</c:formatCode>
                <c:ptCount val="5"/>
                <c:pt idx="0">
                  <c:v>16</c:v>
                </c:pt>
                <c:pt idx="1">
                  <c:v>16</c:v>
                </c:pt>
                <c:pt idx="2">
                  <c:v>22</c:v>
                </c:pt>
                <c:pt idx="3">
                  <c:v>27</c:v>
                </c:pt>
                <c:pt idx="4">
                  <c:v>38</c:v>
                </c:pt>
              </c:numCache>
            </c:numRef>
          </c:val>
          <c:smooth val="0"/>
          <c:extLst>
            <c:ext xmlns:c16="http://schemas.microsoft.com/office/drawing/2014/chart" uri="{C3380CC4-5D6E-409C-BE32-E72D297353CC}">
              <c16:uniqueId val="{00000004-839C-4AC1-8CC5-4FCE572968AA}"/>
            </c:ext>
          </c:extLst>
        </c:ser>
        <c:dLbls>
          <c:showLegendKey val="0"/>
          <c:showVal val="0"/>
          <c:showCatName val="0"/>
          <c:showSerName val="0"/>
          <c:showPercent val="0"/>
          <c:showBubbleSize val="0"/>
        </c:dLbls>
        <c:marker val="1"/>
        <c:smooth val="0"/>
        <c:axId val="575147384"/>
        <c:axId val="575139544"/>
      </c:lineChart>
      <c:catAx>
        <c:axId val="575147384"/>
        <c:scaling>
          <c:orientation val="minMax"/>
        </c:scaling>
        <c:delete val="1"/>
        <c:axPos val="b"/>
        <c:numFmt formatCode="General" sourceLinked="1"/>
        <c:majorTickMark val="none"/>
        <c:minorTickMark val="none"/>
        <c:tickLblPos val="nextTo"/>
        <c:crossAx val="575139544"/>
        <c:crosses val="autoZero"/>
        <c:auto val="1"/>
        <c:lblAlgn val="ctr"/>
        <c:lblOffset val="100"/>
        <c:noMultiLvlLbl val="0"/>
      </c:catAx>
      <c:valAx>
        <c:axId val="575139544"/>
        <c:scaling>
          <c:orientation val="minMax"/>
          <c:min val="10"/>
        </c:scaling>
        <c:delete val="1"/>
        <c:axPos val="l"/>
        <c:numFmt formatCode="General" sourceLinked="1"/>
        <c:majorTickMark val="out"/>
        <c:minorTickMark val="none"/>
        <c:tickLblPos val="nextTo"/>
        <c:crossAx val="5751473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1" Type="http://schemas.openxmlformats.org/officeDocument/2006/relationships/image" Target="../media/image2.png"/></Relationships>
</file>

<file path=ppt/drawings/_rels/drawing2.xml.rels><?xml version="1.0" encoding="UTF-8" standalone="yes"?>
<Relationships xmlns="http://schemas.openxmlformats.org/package/2006/relationships"><Relationship Id="rId1" Type="http://schemas.openxmlformats.org/officeDocument/2006/relationships/image" Target="../media/image2.png"/></Relationships>
</file>

<file path=ppt/drawings/_rels/drawing3.xml.rels><?xml version="1.0" encoding="UTF-8" standalone="yes"?>
<Relationships xmlns="http://schemas.openxmlformats.org/package/2006/relationships"><Relationship Id="rId1" Type="http://schemas.openxmlformats.org/officeDocument/2006/relationships/image" Target="../media/image2.png"/></Relationships>
</file>

<file path=ppt/drawings/_rels/drawing4.xml.rels><?xml version="1.0" encoding="UTF-8" standalone="yes"?>
<Relationships xmlns="http://schemas.openxmlformats.org/package/2006/relationships"><Relationship Id="rId1" Type="http://schemas.openxmlformats.org/officeDocument/2006/relationships/image" Target="../media/image2.png"/></Relationships>
</file>

<file path=ppt/drawings/_rels/drawing5.xml.rels><?xml version="1.0" encoding="UTF-8" standalone="yes"?>
<Relationships xmlns="http://schemas.openxmlformats.org/package/2006/relationships"><Relationship Id="rId1" Type="http://schemas.openxmlformats.org/officeDocument/2006/relationships/image" Target="../media/image2.png"/></Relationships>
</file>

<file path=ppt/drawings/_rels/drawing6.xml.rels><?xml version="1.0" encoding="UTF-8" standalone="yes"?>
<Relationships xmlns="http://schemas.openxmlformats.org/package/2006/relationships"><Relationship Id="rId1" Type="http://schemas.openxmlformats.org/officeDocument/2006/relationships/image" Target="../media/image2.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drawings/drawing5.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drawings/drawing6.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erson standing in front of chairs&#10;&#10;AI-generated content may be incorrect.">
          <a:extLst xmlns:a="http://schemas.openxmlformats.org/drawingml/2006/main">
            <a:ext uri="{FF2B5EF4-FFF2-40B4-BE49-F238E27FC236}">
              <a16:creationId xmlns:a16="http://schemas.microsoft.com/office/drawing/2014/main" id="{AEE4753B-FFBF-28D4-51DB-3C54EFD417C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0" y="0"/>
          <a:ext cx="2232033" cy="1303212"/>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Picture 3" descr="A person standing in front of chairs&#10;&#10;AI-generated content may be incorrect.">
          <a:extLst xmlns:a="http://schemas.openxmlformats.org/drawingml/2006/main">
            <a:ext uri="{FF2B5EF4-FFF2-40B4-BE49-F238E27FC236}">
              <a16:creationId xmlns:a16="http://schemas.microsoft.com/office/drawing/2014/main" id="{6C459E4B-C3B5-3175-77EC-BC40D9BD832B}"/>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90534" y="-81481"/>
          <a:ext cx="1439501" cy="841972"/>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5317963" y="1"/>
            <a:ext cx="4068339" cy="356357"/>
          </a:xfrm>
          <a:prstGeom prst="rect">
            <a:avLst/>
          </a:prstGeom>
        </p:spPr>
        <p:txBody>
          <a:bodyPr vert="horz" lIns="94229" tIns="47114" rIns="94229" bIns="47114" rtlCol="0"/>
          <a:lstStyle>
            <a:lvl1pPr algn="r">
              <a:defRPr sz="1200"/>
            </a:lvl1pPr>
          </a:lstStyle>
          <a:p>
            <a:fld id="{7CCA049B-3A46-4BDA-A8F5-2925B00FE570}" type="datetimeFigureOut">
              <a:rPr lang="en-US" smtClean="0"/>
              <a:t>3/7/2025</a:t>
            </a:fld>
            <a:endParaRPr lang="en-US"/>
          </a:p>
        </p:txBody>
      </p:sp>
      <p:sp>
        <p:nvSpPr>
          <p:cNvPr id="4" name="Footer Placeholder 3"/>
          <p:cNvSpPr>
            <a:spLocks noGrp="1"/>
          </p:cNvSpPr>
          <p:nvPr>
            <p:ph type="ftr" sz="quarter" idx="2"/>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5317963" y="6746119"/>
            <a:ext cx="4068339" cy="356356"/>
          </a:xfrm>
          <a:prstGeom prst="rect">
            <a:avLst/>
          </a:prstGeom>
        </p:spPr>
        <p:txBody>
          <a:bodyPr vert="horz" lIns="94229" tIns="47114" rIns="94229" bIns="47114" rtlCol="0" anchor="b"/>
          <a:lstStyle>
            <a:lvl1pPr algn="r">
              <a:defRPr sz="1200"/>
            </a:lvl1pPr>
          </a:lstStyle>
          <a:p>
            <a:fld id="{DBAA5490-FD59-4087-AC7E-016E8A4124C4}" type="slidenum">
              <a:rPr lang="en-US" smtClean="0"/>
              <a:t>‹#›</a:t>
            </a:fld>
            <a:endParaRPr lang="en-US"/>
          </a:p>
        </p:txBody>
      </p:sp>
    </p:spTree>
    <p:extLst>
      <p:ext uri="{BB962C8B-B14F-4D97-AF65-F5344CB8AC3E}">
        <p14:creationId xmlns:p14="http://schemas.microsoft.com/office/powerpoint/2010/main" val="791092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68339" cy="356357"/>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5317963" y="1"/>
            <a:ext cx="4068339" cy="356357"/>
          </a:xfrm>
          <a:prstGeom prst="rect">
            <a:avLst/>
          </a:prstGeom>
        </p:spPr>
        <p:txBody>
          <a:bodyPr vert="horz" lIns="94229" tIns="47114" rIns="94229" bIns="47114" rtlCol="0"/>
          <a:lstStyle>
            <a:lvl1pPr algn="r">
              <a:defRPr sz="1200"/>
            </a:lvl1pPr>
          </a:lstStyle>
          <a:p>
            <a:fld id="{44C46CEC-428A-4DD0-A7C7-21AF8DE33E93}" type="datetimeFigureOut">
              <a:rPr lang="en-US" smtClean="0"/>
              <a:t>3/7/2025</a:t>
            </a:fld>
            <a:endParaRPr lang="en-US"/>
          </a:p>
        </p:txBody>
      </p:sp>
      <p:sp>
        <p:nvSpPr>
          <p:cNvPr id="4" name="Slide Image Placeholder 3"/>
          <p:cNvSpPr>
            <a:spLocks noGrp="1" noRot="1" noChangeAspect="1"/>
          </p:cNvSpPr>
          <p:nvPr>
            <p:ph type="sldImg" idx="2"/>
          </p:nvPr>
        </p:nvSpPr>
        <p:spPr>
          <a:xfrm>
            <a:off x="2563813" y="887413"/>
            <a:ext cx="4260850" cy="2397125"/>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938848" y="3418066"/>
            <a:ext cx="7510780" cy="2796600"/>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46119"/>
            <a:ext cx="4068339" cy="356356"/>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5317963" y="6746119"/>
            <a:ext cx="4068339" cy="356356"/>
          </a:xfrm>
          <a:prstGeom prst="rect">
            <a:avLst/>
          </a:prstGeom>
        </p:spPr>
        <p:txBody>
          <a:bodyPr vert="horz" lIns="94229" tIns="47114" rIns="94229" bIns="47114" rtlCol="0" anchor="b"/>
          <a:lstStyle>
            <a:lvl1pPr algn="r">
              <a:defRPr sz="1200"/>
            </a:lvl1pPr>
          </a:lstStyle>
          <a:p>
            <a:fld id="{4CBCEA92-F142-4D57-B507-37BDAF44710C}" type="slidenum">
              <a:rPr lang="en-US" smtClean="0"/>
              <a:t>‹#›</a:t>
            </a:fld>
            <a:endParaRPr lang="en-US"/>
          </a:p>
        </p:txBody>
      </p:sp>
    </p:spTree>
    <p:extLst>
      <p:ext uri="{BB962C8B-B14F-4D97-AF65-F5344CB8AC3E}">
        <p14:creationId xmlns:p14="http://schemas.microsoft.com/office/powerpoint/2010/main" val="1402020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16F6-CDE5-1FE8-4E94-D7C68C32D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72D63-5722-634D-8782-53C821E8B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5FD78-50AA-2335-D9F4-86529FFA7AAC}"/>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AB3B0798-57EF-31C5-44BF-232F9EA9FFA5}"/>
              </a:ext>
            </a:extLst>
          </p:cNvPr>
          <p:cNvSpPr>
            <a:spLocks noGrp="1"/>
          </p:cNvSpPr>
          <p:nvPr>
            <p:ph type="sldNum" sz="quarter" idx="10"/>
          </p:nvPr>
        </p:nvSpPr>
        <p:spPr/>
        <p:txBody>
          <a:bodyPr/>
          <a:lstStyle/>
          <a:p>
            <a:fld id="{4CBCEA92-F142-4D57-B507-37BDAF44710C}" type="slidenum">
              <a:rPr lang="en-US" smtClean="0"/>
              <a:t>1</a:t>
            </a:fld>
            <a:endParaRPr lang="en-US"/>
          </a:p>
        </p:txBody>
      </p:sp>
    </p:spTree>
    <p:extLst>
      <p:ext uri="{BB962C8B-B14F-4D97-AF65-F5344CB8AC3E}">
        <p14:creationId xmlns:p14="http://schemas.microsoft.com/office/powerpoint/2010/main" val="1870556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p:cNvSpPr>
            <a:spLocks noGrp="1"/>
          </p:cNvSpPr>
          <p:nvPr>
            <p:ph type="sldNum" sz="quarter" idx="10"/>
          </p:nvPr>
        </p:nvSpPr>
        <p:spPr/>
        <p:txBody>
          <a:bodyPr/>
          <a:lstStyle/>
          <a:p>
            <a:fld id="{4CBCEA92-F142-4D57-B507-37BDAF44710C}" type="slidenum">
              <a:rPr lang="en-US" smtClean="0"/>
              <a:t>2</a:t>
            </a:fld>
            <a:endParaRPr lang="en-US"/>
          </a:p>
        </p:txBody>
      </p:sp>
    </p:spTree>
    <p:extLst>
      <p:ext uri="{BB962C8B-B14F-4D97-AF65-F5344CB8AC3E}">
        <p14:creationId xmlns:p14="http://schemas.microsoft.com/office/powerpoint/2010/main" val="1119884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F2B15-6697-BDB4-A973-D7F44831C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EADBF-985C-4A35-F890-CC4EDE298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43AD3-FB6F-C070-BDD2-96D479A61C19}"/>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F15C40F7-C6B5-55DC-5CF1-DF395C8E1389}"/>
              </a:ext>
            </a:extLst>
          </p:cNvPr>
          <p:cNvSpPr>
            <a:spLocks noGrp="1"/>
          </p:cNvSpPr>
          <p:nvPr>
            <p:ph type="sldNum" sz="quarter" idx="10"/>
          </p:nvPr>
        </p:nvSpPr>
        <p:spPr/>
        <p:txBody>
          <a:bodyPr/>
          <a:lstStyle/>
          <a:p>
            <a:fld id="{4CBCEA92-F142-4D57-B507-37BDAF44710C}" type="slidenum">
              <a:rPr lang="en-US" smtClean="0"/>
              <a:t>3</a:t>
            </a:fld>
            <a:endParaRPr lang="en-US"/>
          </a:p>
        </p:txBody>
      </p:sp>
    </p:spTree>
    <p:extLst>
      <p:ext uri="{BB962C8B-B14F-4D97-AF65-F5344CB8AC3E}">
        <p14:creationId xmlns:p14="http://schemas.microsoft.com/office/powerpoint/2010/main" val="3329107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7B63C-7542-33F4-F7D9-DD38BBBE62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EB530-4FFD-BC66-E4A5-F0B108ED1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DE7DC-55FD-FE4F-A9EE-095D2AF7AA84}"/>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C8690D27-4EE9-DCAC-C6E1-D7C2B42F6258}"/>
              </a:ext>
            </a:extLst>
          </p:cNvPr>
          <p:cNvSpPr>
            <a:spLocks noGrp="1"/>
          </p:cNvSpPr>
          <p:nvPr>
            <p:ph type="sldNum" sz="quarter" idx="10"/>
          </p:nvPr>
        </p:nvSpPr>
        <p:spPr/>
        <p:txBody>
          <a:bodyPr/>
          <a:lstStyle/>
          <a:p>
            <a:fld id="{4CBCEA92-F142-4D57-B507-37BDAF44710C}" type="slidenum">
              <a:rPr lang="en-US" smtClean="0"/>
              <a:t>4</a:t>
            </a:fld>
            <a:endParaRPr lang="en-US"/>
          </a:p>
        </p:txBody>
      </p:sp>
    </p:spTree>
    <p:extLst>
      <p:ext uri="{BB962C8B-B14F-4D97-AF65-F5344CB8AC3E}">
        <p14:creationId xmlns:p14="http://schemas.microsoft.com/office/powerpoint/2010/main" val="2037283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28CF1-1990-0C67-F84B-6C58C395D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349DD-325B-C5B6-3E65-10BD2ED805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B3A0F-0E79-A375-0922-F5E8EF20E901}"/>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431452D5-C438-AF89-6002-FFAF7B0DEB0C}"/>
              </a:ext>
            </a:extLst>
          </p:cNvPr>
          <p:cNvSpPr>
            <a:spLocks noGrp="1"/>
          </p:cNvSpPr>
          <p:nvPr>
            <p:ph type="sldNum" sz="quarter" idx="10"/>
          </p:nvPr>
        </p:nvSpPr>
        <p:spPr/>
        <p:txBody>
          <a:bodyPr/>
          <a:lstStyle/>
          <a:p>
            <a:fld id="{4CBCEA92-F142-4D57-B507-37BDAF44710C}" type="slidenum">
              <a:rPr lang="en-US" smtClean="0"/>
              <a:t>5</a:t>
            </a:fld>
            <a:endParaRPr lang="en-US"/>
          </a:p>
        </p:txBody>
      </p:sp>
    </p:spTree>
    <p:extLst>
      <p:ext uri="{BB962C8B-B14F-4D97-AF65-F5344CB8AC3E}">
        <p14:creationId xmlns:p14="http://schemas.microsoft.com/office/powerpoint/2010/main" val="2050802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5CDE1-CC5A-CA80-F528-05BF22429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B7DF30-1F92-FEEF-0B11-B479327D6A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B0E91-D69F-4C62-A2AE-BC82EA6068E1}"/>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E31CBFE4-DF98-E4B1-A912-A2B7271CFC03}"/>
              </a:ext>
            </a:extLst>
          </p:cNvPr>
          <p:cNvSpPr>
            <a:spLocks noGrp="1"/>
          </p:cNvSpPr>
          <p:nvPr>
            <p:ph type="sldNum" sz="quarter" idx="10"/>
          </p:nvPr>
        </p:nvSpPr>
        <p:spPr/>
        <p:txBody>
          <a:bodyPr/>
          <a:lstStyle/>
          <a:p>
            <a:fld id="{4CBCEA92-F142-4D57-B507-37BDAF44710C}" type="slidenum">
              <a:rPr lang="en-US" smtClean="0"/>
              <a:t>6</a:t>
            </a:fld>
            <a:endParaRPr lang="en-US"/>
          </a:p>
        </p:txBody>
      </p:sp>
    </p:spTree>
    <p:extLst>
      <p:ext uri="{BB962C8B-B14F-4D97-AF65-F5344CB8AC3E}">
        <p14:creationId xmlns:p14="http://schemas.microsoft.com/office/powerpoint/2010/main" val="3120161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F621C-226C-0600-D8DC-41ED50919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2985A-54FA-0301-9C5E-EAFB23417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81D109-F089-8FF9-F23B-51A1ED9147B7}"/>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BBD2A6C5-BADF-5166-8924-192B242BD3E1}"/>
              </a:ext>
            </a:extLst>
          </p:cNvPr>
          <p:cNvSpPr>
            <a:spLocks noGrp="1"/>
          </p:cNvSpPr>
          <p:nvPr>
            <p:ph type="sldNum" sz="quarter" idx="10"/>
          </p:nvPr>
        </p:nvSpPr>
        <p:spPr/>
        <p:txBody>
          <a:bodyPr/>
          <a:lstStyle/>
          <a:p>
            <a:fld id="{4CBCEA92-F142-4D57-B507-37BDAF44710C}" type="slidenum">
              <a:rPr lang="en-US" smtClean="0"/>
              <a:t>7</a:t>
            </a:fld>
            <a:endParaRPr lang="en-US"/>
          </a:p>
        </p:txBody>
      </p:sp>
    </p:spTree>
    <p:extLst>
      <p:ext uri="{BB962C8B-B14F-4D97-AF65-F5344CB8AC3E}">
        <p14:creationId xmlns:p14="http://schemas.microsoft.com/office/powerpoint/2010/main" val="2782938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F4C58-F0F6-DFA8-E013-177627B4F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A56D51-2916-6C30-D886-A2E6A262A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433E8-A16B-9C15-9E80-B2F908F42124}"/>
              </a:ext>
            </a:extLst>
          </p:cNvPr>
          <p:cNvSpPr>
            <a:spLocks noGrp="1"/>
          </p:cNvSpPr>
          <p:nvPr>
            <p:ph type="body" idx="1"/>
          </p:nvPr>
        </p:nvSpPr>
        <p:spPr/>
        <p:txBody>
          <a:bodyPr/>
          <a:lstStyle/>
          <a:p>
            <a:r>
              <a:rPr lang="en-US" dirty="0"/>
              <a:t>This slide contains the </a:t>
            </a:r>
            <a:r>
              <a:rPr lang="en-US" b="1" dirty="0"/>
              <a:t>editable pieces </a:t>
            </a:r>
            <a:r>
              <a:rPr lang="en-US" dirty="0"/>
              <a:t>that were used to build infographic sample</a:t>
            </a:r>
          </a:p>
          <a:p>
            <a:r>
              <a:rPr lang="en-US" dirty="0"/>
              <a:t>Icons – Eye, PC</a:t>
            </a:r>
          </a:p>
        </p:txBody>
      </p:sp>
      <p:sp>
        <p:nvSpPr>
          <p:cNvPr id="4" name="Slide Number Placeholder 3">
            <a:extLst>
              <a:ext uri="{FF2B5EF4-FFF2-40B4-BE49-F238E27FC236}">
                <a16:creationId xmlns:a16="http://schemas.microsoft.com/office/drawing/2014/main" id="{019F048A-5022-D3C7-27A8-513E1066BD76}"/>
              </a:ext>
            </a:extLst>
          </p:cNvPr>
          <p:cNvSpPr>
            <a:spLocks noGrp="1"/>
          </p:cNvSpPr>
          <p:nvPr>
            <p:ph type="sldNum" sz="quarter" idx="10"/>
          </p:nvPr>
        </p:nvSpPr>
        <p:spPr/>
        <p:txBody>
          <a:bodyPr/>
          <a:lstStyle/>
          <a:p>
            <a:fld id="{4CBCEA92-F142-4D57-B507-37BDAF44710C}" type="slidenum">
              <a:rPr lang="en-US" smtClean="0"/>
              <a:t>8</a:t>
            </a:fld>
            <a:endParaRPr lang="en-US"/>
          </a:p>
        </p:txBody>
      </p:sp>
    </p:spTree>
    <p:extLst>
      <p:ext uri="{BB962C8B-B14F-4D97-AF65-F5344CB8AC3E}">
        <p14:creationId xmlns:p14="http://schemas.microsoft.com/office/powerpoint/2010/main" val="4053701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www.nealanalytics.com/templates/"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www.nealanalytics.com/templates/"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BLANK - no top bar">
    <p:bg>
      <p:bgRef idx="1001">
        <a:schemeClr val="bg2"/>
      </p:bgRef>
    </p:bg>
    <p:spTree>
      <p:nvGrpSpPr>
        <p:cNvPr id="1" name=""/>
        <p:cNvGrpSpPr/>
        <p:nvPr/>
      </p:nvGrpSpPr>
      <p:grpSpPr>
        <a:xfrm>
          <a:off x="0" y="0"/>
          <a:ext cx="0" cy="0"/>
          <a:chOff x="0" y="0"/>
          <a:chExt cx="0" cy="0"/>
        </a:xfrm>
      </p:grpSpPr>
      <p:sp>
        <p:nvSpPr>
          <p:cNvPr id="3" name="Rectangle 2"/>
          <p:cNvSpPr/>
          <p:nvPr userDrawn="1"/>
        </p:nvSpPr>
        <p:spPr>
          <a:xfrm>
            <a:off x="0" y="0"/>
            <a:ext cx="12192000" cy="1225485"/>
          </a:xfrm>
          <a:prstGeom prst="rect">
            <a:avLst/>
          </a:prstGeom>
          <a:solidFill>
            <a:srgbClr val="0074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806366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 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73233B-0705-4E94-AE39-0FCF7FAB80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5AE1514C-5E56-4738-A1FF-4B1CFD2A3E36}" type="slidenum">
              <a:rPr lang="en-US" smtClean="0"/>
              <a:t>‹#›</a:t>
            </a:fld>
            <a:endParaRPr lang="en-US"/>
          </a:p>
        </p:txBody>
      </p:sp>
      <p:sp>
        <p:nvSpPr>
          <p:cNvPr id="9" name="TextBox 8">
            <a:hlinkClick r:id="rId3"/>
            <a:extLst>
              <a:ext uri="{FF2B5EF4-FFF2-40B4-BE49-F238E27FC236}">
                <a16:creationId xmlns:a16="http://schemas.microsoft.com/office/drawing/2014/main" id="{011B0CED-3A92-43B0-A3DE-C37B6408D9DB}"/>
              </a:ext>
            </a:extLst>
          </p:cNvPr>
          <p:cNvSpPr txBox="1"/>
          <p:nvPr userDrawn="1"/>
        </p:nvSpPr>
        <p:spPr>
          <a:xfrm>
            <a:off x="329642" y="4267687"/>
            <a:ext cx="2664879" cy="329343"/>
          </a:xfrm>
          <a:prstGeom prst="roundRect">
            <a:avLst>
              <a:gd name="adj" fmla="val 50000"/>
            </a:avLst>
          </a:prstGeom>
          <a:solidFill>
            <a:srgbClr val="00B0F0"/>
          </a:solidFill>
          <a:ln w="19050">
            <a:solidFill>
              <a:schemeClr val="tx1"/>
            </a:solidFill>
          </a:ln>
        </p:spPr>
        <p:txBody>
          <a:bodyPr wrap="square" lIns="0" r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rPr>
              <a:t>Neal Creative  | click &amp; </a:t>
            </a:r>
            <a:r>
              <a:rPr kumimoji="0" lang="en-US" sz="1200" b="1" i="0" u="none" strike="noStrike" kern="0" cap="none" spc="0" normalizeH="0" baseline="0" noProof="0" dirty="0">
                <a:ln>
                  <a:noFill/>
                </a:ln>
                <a:effectLst/>
                <a:uLnTx/>
                <a:uFillTx/>
              </a:rPr>
              <a:t>Learn more</a:t>
            </a:r>
          </a:p>
        </p:txBody>
      </p:sp>
      <p:sp>
        <p:nvSpPr>
          <p:cNvPr id="10" name="TextBox 9">
            <a:extLst>
              <a:ext uri="{FF2B5EF4-FFF2-40B4-BE49-F238E27FC236}">
                <a16:creationId xmlns:a16="http://schemas.microsoft.com/office/drawing/2014/main" id="{0BEF3013-858C-4FFF-B19A-1F10A879C4E8}"/>
              </a:ext>
            </a:extLst>
          </p:cNvPr>
          <p:cNvSpPr txBox="1"/>
          <p:nvPr userDrawn="1"/>
        </p:nvSpPr>
        <p:spPr>
          <a:xfrm>
            <a:off x="177800" y="6435060"/>
            <a:ext cx="1050288" cy="246221"/>
          </a:xfrm>
          <a:prstGeom prst="rect">
            <a:avLst/>
          </a:prstGeom>
          <a:noFill/>
        </p:spPr>
        <p:txBody>
          <a:bodyPr wrap="none" rtlCol="0">
            <a:spAutoFit/>
          </a:bodyPr>
          <a:lstStyle/>
          <a:p>
            <a:r>
              <a:rPr lang="en-US" sz="1000" dirty="0">
                <a:solidFill>
                  <a:schemeClr val="bg1">
                    <a:lumMod val="75000"/>
                  </a:schemeClr>
                </a:solidFill>
              </a:rPr>
              <a:t>Neal Creative </a:t>
            </a:r>
            <a:r>
              <a:rPr lang="en-US" sz="1000" baseline="30000" dirty="0">
                <a:solidFill>
                  <a:schemeClr val="bg1">
                    <a:lumMod val="75000"/>
                  </a:schemeClr>
                </a:solidFill>
              </a:rPr>
              <a:t>©</a:t>
            </a:r>
          </a:p>
        </p:txBody>
      </p:sp>
    </p:spTree>
    <p:extLst>
      <p:ext uri="{BB962C8B-B14F-4D97-AF65-F5344CB8AC3E}">
        <p14:creationId xmlns:p14="http://schemas.microsoft.com/office/powerpoint/2010/main" val="2221538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AE1514C-5E56-4738-A1FF-4B1CFD2A3E36}" type="slidenum">
              <a:rPr lang="en-US" smtClean="0"/>
              <a:t>‹#›</a:t>
            </a:fld>
            <a:endParaRPr lang="en-US"/>
          </a:p>
        </p:txBody>
      </p:sp>
      <p:sp>
        <p:nvSpPr>
          <p:cNvPr id="5" name="Rectangle 4"/>
          <p:cNvSpPr/>
          <p:nvPr userDrawn="1"/>
        </p:nvSpPr>
        <p:spPr>
          <a:xfrm>
            <a:off x="0" y="0"/>
            <a:ext cx="12192000" cy="11480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5747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 no top bar">
    <p:spTree>
      <p:nvGrpSpPr>
        <p:cNvPr id="1" name=""/>
        <p:cNvGrpSpPr/>
        <p:nvPr/>
      </p:nvGrpSpPr>
      <p:grpSpPr>
        <a:xfrm>
          <a:off x="0" y="0"/>
          <a:ext cx="0" cy="0"/>
          <a:chOff x="0" y="0"/>
          <a:chExt cx="0" cy="0"/>
        </a:xfrm>
      </p:grpSpPr>
      <p:sp>
        <p:nvSpPr>
          <p:cNvPr id="3" name="Rectangle 2"/>
          <p:cNvSpPr/>
          <p:nvPr userDrawn="1"/>
        </p:nvSpPr>
        <p:spPr>
          <a:xfrm>
            <a:off x="0" y="0"/>
            <a:ext cx="12192000" cy="122548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hlinkClick r:id="rId2"/>
          </p:cNvPr>
          <p:cNvSpPr txBox="1"/>
          <p:nvPr userDrawn="1"/>
        </p:nvSpPr>
        <p:spPr>
          <a:xfrm>
            <a:off x="9524236" y="6316156"/>
            <a:ext cx="2426464" cy="367873"/>
          </a:xfrm>
          <a:prstGeom prst="roundRect">
            <a:avLst>
              <a:gd name="adj" fmla="val 50000"/>
            </a:avLst>
          </a:prstGeom>
          <a:solidFill>
            <a:schemeClr val="tx2"/>
          </a:solidFill>
        </p:spPr>
        <p:txBody>
          <a:bodyPr wrap="square" rtlCol="0">
            <a:spAutoFit/>
          </a:bodyPr>
          <a:lstStyle/>
          <a:p>
            <a:pPr algn="ctr"/>
            <a:r>
              <a:rPr lang="en-US" sz="1100" dirty="0">
                <a:solidFill>
                  <a:schemeClr val="bg1"/>
                </a:solidFill>
              </a:rPr>
              <a:t>Neal Creative</a:t>
            </a:r>
            <a:r>
              <a:rPr lang="en-US" sz="1100" baseline="0" dirty="0">
                <a:solidFill>
                  <a:schemeClr val="bg1"/>
                </a:solidFill>
              </a:rPr>
              <a:t>  | </a:t>
            </a:r>
            <a:r>
              <a:rPr lang="en-US" sz="1100" b="1" baseline="0" dirty="0">
                <a:solidFill>
                  <a:schemeClr val="bg1"/>
                </a:solidFill>
              </a:rPr>
              <a:t>Learn more</a:t>
            </a:r>
            <a:endParaRPr lang="en-US" sz="1100" b="1" dirty="0">
              <a:solidFill>
                <a:schemeClr val="bg1"/>
              </a:solidFill>
            </a:endParaRPr>
          </a:p>
        </p:txBody>
      </p:sp>
      <p:sp>
        <p:nvSpPr>
          <p:cNvPr id="5" name="TextBox 4">
            <a:extLst>
              <a:ext uri="{FF2B5EF4-FFF2-40B4-BE49-F238E27FC236}">
                <a16:creationId xmlns:a16="http://schemas.microsoft.com/office/drawing/2014/main" id="{FB34A05A-4AD6-4BC6-B6EA-314331190DB2}"/>
              </a:ext>
            </a:extLst>
          </p:cNvPr>
          <p:cNvSpPr txBox="1"/>
          <p:nvPr userDrawn="1"/>
        </p:nvSpPr>
        <p:spPr>
          <a:xfrm>
            <a:off x="177800" y="6435060"/>
            <a:ext cx="1050288" cy="246221"/>
          </a:xfrm>
          <a:prstGeom prst="rect">
            <a:avLst/>
          </a:prstGeom>
          <a:noFill/>
        </p:spPr>
        <p:txBody>
          <a:bodyPr wrap="none" rtlCol="0">
            <a:spAutoFit/>
          </a:bodyPr>
          <a:lstStyle/>
          <a:p>
            <a:r>
              <a:rPr lang="en-US" sz="1000" dirty="0">
                <a:solidFill>
                  <a:schemeClr val="bg1">
                    <a:lumMod val="75000"/>
                  </a:schemeClr>
                </a:solidFill>
              </a:rPr>
              <a:t>Neal Creative </a:t>
            </a:r>
            <a:r>
              <a:rPr lang="en-US" sz="1000" baseline="30000" dirty="0">
                <a:solidFill>
                  <a:schemeClr val="bg1">
                    <a:lumMod val="75000"/>
                  </a:schemeClr>
                </a:solidFill>
              </a:rPr>
              <a:t>©</a:t>
            </a:r>
          </a:p>
        </p:txBody>
      </p:sp>
    </p:spTree>
    <p:extLst>
      <p:ext uri="{BB962C8B-B14F-4D97-AF65-F5344CB8AC3E}">
        <p14:creationId xmlns:p14="http://schemas.microsoft.com/office/powerpoint/2010/main" val="322627904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userDrawn="1"/>
        </p:nvSpPr>
        <p:spPr>
          <a:xfrm>
            <a:off x="0" y="0"/>
            <a:ext cx="12192000" cy="1050758"/>
          </a:xfrm>
          <a:prstGeom prst="rect">
            <a:avLst/>
          </a:prstGeom>
        </p:spPr>
        <p:txBody>
          <a:bodyPr vert="horz" lIns="457200" tIns="45720" rIns="457200" bIns="45720" rtlCol="0" anchor="ctr">
            <a:noAutofit/>
          </a:bodyPr>
          <a:lstStyle/>
          <a:p>
            <a:pPr lvl="0" algn="ctr">
              <a:lnSpc>
                <a:spcPct val="90000"/>
              </a:lnSpc>
              <a:spcBef>
                <a:spcPct val="0"/>
              </a:spcBef>
              <a:buNone/>
              <a:tabLst>
                <a:tab pos="10579100" algn="l"/>
              </a:tabLst>
            </a:pPr>
            <a:endParaRPr lang="en-US" sz="3400" b="0" i="0" spc="160" baseline="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endParaRPr>
          </a:p>
        </p:txBody>
      </p:sp>
      <p:sp>
        <p:nvSpPr>
          <p:cNvPr id="2" name="Title Placeholder 1"/>
          <p:cNvSpPr>
            <a:spLocks noGrp="1"/>
          </p:cNvSpPr>
          <p:nvPr>
            <p:ph type="title"/>
          </p:nvPr>
        </p:nvSpPr>
        <p:spPr>
          <a:xfrm>
            <a:off x="0" y="0"/>
            <a:ext cx="12192000" cy="1050758"/>
          </a:xfrm>
          <a:prstGeom prst="rect">
            <a:avLst/>
          </a:prstGeom>
        </p:spPr>
        <p:txBody>
          <a:bodyPr vert="horz" lIns="457200" tIns="45720" rIns="457200" bIns="45720" rtlCol="0" anchor="ctr">
            <a:noAutofit/>
          </a:bodyPr>
          <a:lstStyle/>
          <a:p>
            <a:pPr lvl="0" algn="ctr" defTabSz="914400" rtl="0" eaLnBrk="1" latinLnBrk="0" hangingPunct="1">
              <a:lnSpc>
                <a:spcPct val="90000"/>
              </a:lnSpc>
              <a:spcBef>
                <a:spcPct val="0"/>
              </a:spcBef>
              <a:buNone/>
              <a:tabLst>
                <a:tab pos="10579100" algn="l"/>
              </a:tabLst>
            </a:pPr>
            <a:r>
              <a:rPr lang="en-US"/>
              <a:t>Click to edit Master title style</a:t>
            </a:r>
            <a:endParaRPr lang="en-US" dirty="0"/>
          </a:p>
        </p:txBody>
      </p:sp>
      <p:sp>
        <p:nvSpPr>
          <p:cNvPr id="3" name="Text Placeholder 2"/>
          <p:cNvSpPr>
            <a:spLocks noGrp="1"/>
          </p:cNvSpPr>
          <p:nvPr>
            <p:ph type="body" idx="1"/>
          </p:nvPr>
        </p:nvSpPr>
        <p:spPr>
          <a:xfrm>
            <a:off x="0" y="1275347"/>
            <a:ext cx="12192000" cy="1949765"/>
          </a:xfrm>
          <a:prstGeom prst="rect">
            <a:avLst/>
          </a:prstGeom>
        </p:spPr>
        <p:txBody>
          <a:bodyPr vert="horz" lIns="457200" tIns="45720" rIns="45720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188115" y="6316156"/>
            <a:ext cx="2743200" cy="365125"/>
          </a:xfrm>
          <a:prstGeom prst="rect">
            <a:avLst/>
          </a:prstGeom>
        </p:spPr>
        <p:txBody>
          <a:bodyPr vert="horz" lIns="91440" tIns="45720" rIns="91440" bIns="45720" rtlCol="0" anchor="ctr"/>
          <a:lstStyle>
            <a:lvl1pPr algn="r">
              <a:defRPr sz="1100">
                <a:solidFill>
                  <a:schemeClr val="tx2"/>
                </a:solidFill>
              </a:defRPr>
            </a:lvl1pPr>
          </a:lstStyle>
          <a:p>
            <a:fld id="{5AE1514C-5E56-4738-A1FF-4B1CFD2A3E36}" type="slidenum">
              <a:rPr lang="en-US" smtClean="0"/>
              <a:pPr/>
              <a:t>‹#›</a:t>
            </a:fld>
            <a:endParaRPr lang="en-US"/>
          </a:p>
        </p:txBody>
      </p:sp>
    </p:spTree>
    <p:extLst>
      <p:ext uri="{BB962C8B-B14F-4D97-AF65-F5344CB8AC3E}">
        <p14:creationId xmlns:p14="http://schemas.microsoft.com/office/powerpoint/2010/main" val="1071799329"/>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6" r:id="rId3"/>
    <p:sldLayoutId id="2147483679" r:id="rId4"/>
  </p:sldLayoutIdLst>
  <p:hf hdr="0" dt="0"/>
  <p:txStyles>
    <p:titleStyle>
      <a:lvl1pPr algn="ctr" defTabSz="914400" rtl="0" eaLnBrk="1" latinLnBrk="0" hangingPunct="1">
        <a:lnSpc>
          <a:spcPct val="90000"/>
        </a:lnSpc>
        <a:spcBef>
          <a:spcPct val="0"/>
        </a:spcBef>
        <a:buNone/>
        <a:tabLst>
          <a:tab pos="10579100" algn="l"/>
        </a:tabLst>
        <a:defRPr lang="en-US" sz="3400" b="0" i="0" kern="1200" spc="160" baseline="0" dirty="0">
          <a:gradFill>
            <a:gsLst>
              <a:gs pos="0">
                <a:schemeClr val="tx2"/>
              </a:gs>
              <a:gs pos="100000">
                <a:schemeClr val="tx2"/>
              </a:gs>
            </a:gsLst>
            <a:lin ang="5400000" scaled="1"/>
          </a:gradFill>
          <a:latin typeface="Segoe UI Semibold" panose="020B0702040204020203" pitchFamily="34" charset="0"/>
          <a:ea typeface="+mj-ea"/>
          <a:cs typeface="Segoe UI Semibold" panose="020B0702040204020203" pitchFamily="34" charset="0"/>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lumMod val="85000"/>
              <a:lumOff val="15000"/>
            </a:schemeClr>
          </a:solidFill>
          <a:latin typeface="+mj-lt"/>
          <a:ea typeface="+mn-ea"/>
          <a:cs typeface="+mn-cs"/>
        </a:defRPr>
      </a:lvl1pPr>
      <a:lvl2pPr marL="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j-lt"/>
          <a:ea typeface="+mn-ea"/>
          <a:cs typeface="+mn-cs"/>
        </a:defRPr>
      </a:lvl2pPr>
      <a:lvl3pPr marL="0" indent="0" algn="ctr" defTabSz="914400" rtl="0" eaLnBrk="1" latinLnBrk="0" hangingPunct="1">
        <a:lnSpc>
          <a:spcPct val="90000"/>
        </a:lnSpc>
        <a:spcBef>
          <a:spcPts val="1200"/>
        </a:spcBef>
        <a:spcAft>
          <a:spcPts val="1200"/>
        </a:spcAft>
        <a:buFont typeface="Arial" panose="020B0604020202020204" pitchFamily="34" charset="0"/>
        <a:buNone/>
        <a:defRPr sz="2000" b="1" kern="1200">
          <a:solidFill>
            <a:schemeClr val="tx2"/>
          </a:solidFill>
          <a:latin typeface="+mn-lt"/>
          <a:ea typeface="+mn-ea"/>
          <a:cs typeface="+mn-cs"/>
        </a:defRPr>
      </a:lvl3pPr>
      <a:lvl4pPr marL="0" indent="0" algn="ctr" defTabSz="914400" rtl="0" eaLnBrk="1" latinLnBrk="0" hangingPunct="1">
        <a:lnSpc>
          <a:spcPct val="90000"/>
        </a:lnSpc>
        <a:spcBef>
          <a:spcPts val="500"/>
        </a:spcBef>
        <a:buFont typeface="Arial" panose="020B0604020202020204" pitchFamily="34" charset="0"/>
        <a:buNone/>
        <a:defRPr sz="1600" kern="1200">
          <a:solidFill>
            <a:schemeClr val="tx1">
              <a:lumMod val="85000"/>
              <a:lumOff val="15000"/>
            </a:schemeClr>
          </a:solidFill>
          <a:latin typeface="+mn-lt"/>
          <a:ea typeface="+mn-ea"/>
          <a:cs typeface="+mn-cs"/>
        </a:defRPr>
      </a:lvl4pPr>
      <a:lvl5pPr marL="0" indent="0" algn="ctr" defTabSz="914400" rtl="0" eaLnBrk="1" latinLnBrk="0" hangingPunct="1">
        <a:lnSpc>
          <a:spcPct val="90000"/>
        </a:lnSpc>
        <a:spcBef>
          <a:spcPts val="500"/>
        </a:spcBef>
        <a:spcAft>
          <a:spcPts val="1200"/>
        </a:spcAft>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hyperlink" Target="https://www.kaggle.com/datasets/pavansubhasht/ibm-hr-analytics-attrition-dataset" TargetMode="Externa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hyperlink" Target="https://public.tableau.com/views/EmployeeAttrition_17394187092860/1?:language=en-US&amp;:sid=&amp;:redirect=auth&amp;:display_count=n&amp;:origin=viz_share_lin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55414-B226-B23D-BC3E-0807579C2A19}"/>
            </a:ext>
          </a:extLst>
        </p:cNvPr>
        <p:cNvGrpSpPr/>
        <p:nvPr/>
      </p:nvGrpSpPr>
      <p:grpSpPr>
        <a:xfrm>
          <a:off x="0" y="0"/>
          <a:ext cx="0" cy="0"/>
          <a:chOff x="0" y="0"/>
          <a:chExt cx="0" cy="0"/>
        </a:xfrm>
      </p:grpSpPr>
      <p:grpSp>
        <p:nvGrpSpPr>
          <p:cNvPr id="41" name="Group 40" descr="Overlaid shapes">
            <a:extLst>
              <a:ext uri="{FF2B5EF4-FFF2-40B4-BE49-F238E27FC236}">
                <a16:creationId xmlns:a16="http://schemas.microsoft.com/office/drawing/2014/main" id="{1E8BDA6E-BA2B-27AD-669B-A237100E6408}"/>
              </a:ext>
            </a:extLst>
          </p:cNvPr>
          <p:cNvGrpSpPr/>
          <p:nvPr/>
        </p:nvGrpSpPr>
        <p:grpSpPr>
          <a:xfrm>
            <a:off x="1530038" y="363227"/>
            <a:ext cx="2018919" cy="477677"/>
            <a:chOff x="9191757" y="2765372"/>
            <a:chExt cx="2019403" cy="477677"/>
          </a:xfrm>
        </p:grpSpPr>
        <p:sp>
          <p:nvSpPr>
            <p:cNvPr id="36" name="Rectangle 35">
              <a:extLst>
                <a:ext uri="{FF2B5EF4-FFF2-40B4-BE49-F238E27FC236}">
                  <a16:creationId xmlns:a16="http://schemas.microsoft.com/office/drawing/2014/main" id="{BC8C34D2-19A1-9457-9B9D-2E5B74F74161}"/>
                </a:ext>
              </a:extLst>
            </p:cNvPr>
            <p:cNvSpPr/>
            <p:nvPr/>
          </p:nvSpPr>
          <p:spPr>
            <a:xfrm>
              <a:off x="9191757" y="2765372"/>
              <a:ext cx="364601"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5615C6B8-A579-A9CA-B56A-630BB71E43BB}"/>
                </a:ext>
              </a:extLst>
            </p:cNvPr>
            <p:cNvSpPr/>
            <p:nvPr/>
          </p:nvSpPr>
          <p:spPr>
            <a:xfrm>
              <a:off x="9492745" y="2855860"/>
              <a:ext cx="1718415"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75000"/>
              </a:schemeClr>
            </a:solidFill>
            <a:ln>
              <a:noFill/>
            </a:ln>
            <a:effectLst/>
          </p:spPr>
          <p:txBody>
            <a:bodyPr wrap="square" lIns="0" tIns="0" rIns="0" bIns="0">
              <a:noAutofit/>
            </a:bodyPr>
            <a:lstStyle/>
            <a:p>
              <a:pPr algn="ctr" defTabSz="932597">
                <a:defRPr/>
              </a:pPr>
              <a:r>
                <a:rPr lang="en-US" sz="1836" b="1" kern="0" dirty="0">
                  <a:solidFill>
                    <a:schemeClr val="accent2">
                      <a:lumMod val="50000"/>
                    </a:schemeClr>
                  </a:solidFill>
                  <a:latin typeface="Bahnschrift" panose="020B0502040204020203" pitchFamily="34" charset="0"/>
                </a:rPr>
                <a:t>Introduction</a:t>
              </a:r>
            </a:p>
          </p:txBody>
        </p:sp>
        <p:sp>
          <p:nvSpPr>
            <p:cNvPr id="38" name="AutoShape 4">
              <a:extLst>
                <a:ext uri="{FF2B5EF4-FFF2-40B4-BE49-F238E27FC236}">
                  <a16:creationId xmlns:a16="http://schemas.microsoft.com/office/drawing/2014/main" id="{1AA7AAA7-C369-A14E-5128-EEDF6093DE2F}"/>
                </a:ext>
              </a:extLst>
            </p:cNvPr>
            <p:cNvSpPr>
              <a:spLocks/>
            </p:cNvSpPr>
            <p:nvPr/>
          </p:nvSpPr>
          <p:spPr bwMode="auto">
            <a:xfrm rot="21300000" flipV="1">
              <a:off x="9495043" y="2767400"/>
              <a:ext cx="65281" cy="93389"/>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1FB49138-4525-839A-233D-4134DDCF1CC7}"/>
              </a:ext>
            </a:extLst>
          </p:cNvPr>
          <p:cNvGraphicFramePr/>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9CBEBAF4-77B2-C226-E908-2E4ED4DA1CBF}"/>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0A374BF1-D5EA-880B-A0EA-40785ACF54A4}"/>
              </a:ext>
            </a:extLst>
          </p:cNvPr>
          <p:cNvSpPr>
            <a:spLocks noGrp="1" noRot="1" noMove="1" noResize="1" noEditPoints="1" noAdjustHandles="1" noChangeArrowheads="1" noChangeShapeType="1"/>
          </p:cNvSpPr>
          <p:nvPr/>
        </p:nvSpPr>
        <p:spPr>
          <a:xfrm>
            <a:off x="0" y="1213164"/>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oup of people sitting at desks&#10;&#10;AI-generated content may be incorrect.">
            <a:extLst>
              <a:ext uri="{FF2B5EF4-FFF2-40B4-BE49-F238E27FC236}">
                <a16:creationId xmlns:a16="http://schemas.microsoft.com/office/drawing/2014/main" id="{3BF9EFC5-73B8-CD95-50FC-9235397A00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4768" y="1576391"/>
            <a:ext cx="9488031" cy="4891217"/>
          </a:xfrm>
          <a:prstGeom prst="rect">
            <a:avLst/>
          </a:prstGeom>
        </p:spPr>
      </p:pic>
      <p:sp>
        <p:nvSpPr>
          <p:cNvPr id="7" name="TextBox 6">
            <a:extLst>
              <a:ext uri="{FF2B5EF4-FFF2-40B4-BE49-F238E27FC236}">
                <a16:creationId xmlns:a16="http://schemas.microsoft.com/office/drawing/2014/main" id="{0618A16B-89D1-45F7-C601-1BB03EAAAE28}"/>
              </a:ext>
            </a:extLst>
          </p:cNvPr>
          <p:cNvSpPr txBox="1"/>
          <p:nvPr/>
        </p:nvSpPr>
        <p:spPr>
          <a:xfrm>
            <a:off x="2595973" y="1928716"/>
            <a:ext cx="7441948" cy="3416320"/>
          </a:xfrm>
          <a:prstGeom prst="rect">
            <a:avLst/>
          </a:prstGeom>
          <a:noFill/>
        </p:spPr>
        <p:txBody>
          <a:bodyPr wrap="square" rtlCol="0">
            <a:spAutoFit/>
          </a:bodyPr>
          <a:lstStyle/>
          <a:p>
            <a:r>
              <a:rPr lang="en-US" b="1" dirty="0">
                <a:solidFill>
                  <a:schemeClr val="accent2"/>
                </a:solidFill>
                <a:latin typeface="Bahnschrift" panose="020B0502040204020203" pitchFamily="34" charset="0"/>
              </a:rPr>
              <a:t>Employee attrition </a:t>
            </a:r>
            <a:r>
              <a:rPr lang="en-US" dirty="0">
                <a:solidFill>
                  <a:schemeClr val="tx1">
                    <a:lumMod val="95000"/>
                  </a:schemeClr>
                </a:solidFill>
                <a:latin typeface="Bahnschrift" panose="020B0502040204020203" pitchFamily="34" charset="0"/>
              </a:rPr>
              <a:t>is a major challenge for organizations, impacting productivity, morale, and financial stability. High turnover rates can lead to increased hiring costs, lost expertise, and disruptions in business operations.</a:t>
            </a:r>
          </a:p>
          <a:p>
            <a:r>
              <a:rPr lang="en-US" dirty="0">
                <a:solidFill>
                  <a:schemeClr val="tx1">
                    <a:lumMod val="95000"/>
                  </a:schemeClr>
                </a:solidFill>
                <a:latin typeface="Bahnschrift" panose="020B0502040204020203" pitchFamily="34" charset="0"/>
              </a:rPr>
              <a:t>This project focuses on analyzing </a:t>
            </a:r>
            <a:r>
              <a:rPr lang="en-US" b="1" dirty="0">
                <a:solidFill>
                  <a:schemeClr val="accent2"/>
                </a:solidFill>
                <a:latin typeface="Bahnschrift" panose="020B0502040204020203" pitchFamily="34" charset="0"/>
              </a:rPr>
              <a:t>key factors contributing to employee attrition</a:t>
            </a:r>
            <a:r>
              <a:rPr lang="en-US" dirty="0">
                <a:latin typeface="Bahnschrift" panose="020B0502040204020203" pitchFamily="34" charset="0"/>
              </a:rPr>
              <a:t>, </a:t>
            </a:r>
            <a:r>
              <a:rPr lang="en-US" dirty="0">
                <a:solidFill>
                  <a:schemeClr val="tx1">
                    <a:lumMod val="95000"/>
                  </a:schemeClr>
                </a:solidFill>
                <a:latin typeface="Bahnschrift" panose="020B0502040204020203" pitchFamily="34" charset="0"/>
              </a:rPr>
              <a:t>such as:</a:t>
            </a:r>
            <a:br>
              <a:rPr lang="en-US" dirty="0">
                <a:latin typeface="Bahnschrift" panose="020B0502040204020203" pitchFamily="34" charset="0"/>
              </a:rPr>
            </a:br>
            <a:r>
              <a:rPr lang="en-US" dirty="0">
                <a:solidFill>
                  <a:schemeClr val="accent2"/>
                </a:solidFill>
                <a:latin typeface="Bahnschrift" panose="020B0502040204020203" pitchFamily="34" charset="0"/>
              </a:rPr>
              <a:t>✅ </a:t>
            </a:r>
            <a:r>
              <a:rPr lang="en-US" b="1" dirty="0">
                <a:solidFill>
                  <a:schemeClr val="accent2"/>
                </a:solidFill>
                <a:latin typeface="Bahnschrift" panose="020B0502040204020203" pitchFamily="34" charset="0"/>
              </a:rPr>
              <a:t>Work-life balance</a:t>
            </a:r>
            <a:br>
              <a:rPr lang="en-US" dirty="0">
                <a:solidFill>
                  <a:schemeClr val="accent2"/>
                </a:solidFill>
                <a:latin typeface="Bahnschrift" panose="020B0502040204020203" pitchFamily="34" charset="0"/>
              </a:rPr>
            </a:br>
            <a:r>
              <a:rPr lang="en-US" dirty="0">
                <a:solidFill>
                  <a:schemeClr val="accent2"/>
                </a:solidFill>
                <a:latin typeface="Bahnschrift" panose="020B0502040204020203" pitchFamily="34" charset="0"/>
              </a:rPr>
              <a:t>✅ </a:t>
            </a:r>
            <a:r>
              <a:rPr lang="en-US" b="1" dirty="0">
                <a:solidFill>
                  <a:schemeClr val="accent2"/>
                </a:solidFill>
                <a:latin typeface="Bahnschrift" panose="020B0502040204020203" pitchFamily="34" charset="0"/>
              </a:rPr>
              <a:t>Salary levels</a:t>
            </a:r>
            <a:br>
              <a:rPr lang="en-US" dirty="0">
                <a:solidFill>
                  <a:schemeClr val="accent2"/>
                </a:solidFill>
                <a:latin typeface="Bahnschrift" panose="020B0502040204020203" pitchFamily="34" charset="0"/>
              </a:rPr>
            </a:br>
            <a:r>
              <a:rPr lang="en-US" dirty="0">
                <a:solidFill>
                  <a:schemeClr val="accent2"/>
                </a:solidFill>
                <a:latin typeface="Bahnschrift" panose="020B0502040204020203" pitchFamily="34" charset="0"/>
              </a:rPr>
              <a:t>✅ </a:t>
            </a:r>
            <a:r>
              <a:rPr lang="en-US" b="1" dirty="0">
                <a:solidFill>
                  <a:schemeClr val="accent2"/>
                </a:solidFill>
                <a:latin typeface="Bahnschrift" panose="020B0502040204020203" pitchFamily="34" charset="0"/>
              </a:rPr>
              <a:t>Employee Engagement</a:t>
            </a:r>
            <a:br>
              <a:rPr lang="en-US" dirty="0">
                <a:solidFill>
                  <a:schemeClr val="accent2"/>
                </a:solidFill>
                <a:latin typeface="Bahnschrift" panose="020B0502040204020203" pitchFamily="34" charset="0"/>
              </a:rPr>
            </a:br>
            <a:r>
              <a:rPr lang="en-US" dirty="0">
                <a:solidFill>
                  <a:schemeClr val="accent2"/>
                </a:solidFill>
                <a:latin typeface="Bahnschrift" panose="020B0502040204020203" pitchFamily="34" charset="0"/>
              </a:rPr>
              <a:t>✅ </a:t>
            </a:r>
            <a:r>
              <a:rPr lang="en-US" b="1" dirty="0">
                <a:solidFill>
                  <a:schemeClr val="accent2"/>
                </a:solidFill>
                <a:latin typeface="Bahnschrift" panose="020B0502040204020203" pitchFamily="34" charset="0"/>
              </a:rPr>
              <a:t>Tenure &amp; career growth</a:t>
            </a:r>
            <a:br>
              <a:rPr lang="en-US" dirty="0">
                <a:solidFill>
                  <a:schemeClr val="accent2"/>
                </a:solidFill>
                <a:latin typeface="Bahnschrift" panose="020B0502040204020203" pitchFamily="34" charset="0"/>
              </a:rPr>
            </a:br>
            <a:r>
              <a:rPr lang="en-US" dirty="0">
                <a:solidFill>
                  <a:schemeClr val="accent2"/>
                </a:solidFill>
                <a:latin typeface="Bahnschrift" panose="020B0502040204020203" pitchFamily="34" charset="0"/>
              </a:rPr>
              <a:t>✅ </a:t>
            </a:r>
            <a:r>
              <a:rPr lang="en-US" b="1" dirty="0">
                <a:solidFill>
                  <a:schemeClr val="accent2"/>
                </a:solidFill>
                <a:latin typeface="Bahnschrift" panose="020B0502040204020203" pitchFamily="34" charset="0"/>
              </a:rPr>
              <a:t>Departmental impact</a:t>
            </a:r>
            <a:endParaRPr lang="en-US" dirty="0">
              <a:solidFill>
                <a:schemeClr val="accent2"/>
              </a:solidFill>
              <a:latin typeface="Bahnschrift" panose="020B0502040204020203" pitchFamily="34" charset="0"/>
            </a:endParaRPr>
          </a:p>
          <a:p>
            <a:endParaRPr lang="en-US" dirty="0"/>
          </a:p>
        </p:txBody>
      </p:sp>
      <p:pic>
        <p:nvPicPr>
          <p:cNvPr id="4" name="Picture 3" descr="A cartoon character with arms up&#10;&#10;AI-generated content may be incorrect.">
            <a:extLst>
              <a:ext uri="{FF2B5EF4-FFF2-40B4-BE49-F238E27FC236}">
                <a16:creationId xmlns:a16="http://schemas.microsoft.com/office/drawing/2014/main" id="{BBF4089B-5F23-21A0-94FD-9223DAAC3AEB}"/>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rot="210187">
            <a:off x="-803304" y="4132724"/>
            <a:ext cx="6058612" cy="3129273"/>
          </a:xfrm>
          <a:prstGeom prst="rect">
            <a:avLst/>
          </a:prstGeom>
        </p:spPr>
      </p:pic>
      <p:pic>
        <p:nvPicPr>
          <p:cNvPr id="8" name="Picture 7" descr="A cartoon of a person in a tie&#10;&#10;AI-generated content may be incorrect.">
            <a:extLst>
              <a:ext uri="{FF2B5EF4-FFF2-40B4-BE49-F238E27FC236}">
                <a16:creationId xmlns:a16="http://schemas.microsoft.com/office/drawing/2014/main" id="{42E431B5-44AA-002B-4FE4-B3AA1987FB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59556">
            <a:off x="7183015" y="3933520"/>
            <a:ext cx="6626586" cy="3422632"/>
          </a:xfrm>
          <a:prstGeom prst="rect">
            <a:avLst/>
          </a:prstGeom>
        </p:spPr>
      </p:pic>
    </p:spTree>
    <p:extLst>
      <p:ext uri="{BB962C8B-B14F-4D97-AF65-F5344CB8AC3E}">
        <p14:creationId xmlns:p14="http://schemas.microsoft.com/office/powerpoint/2010/main" val="3379651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grpSp>
        <p:nvGrpSpPr>
          <p:cNvPr id="41" name="Group 40" descr="Overlaid shapes">
            <a:extLst>
              <a:ext uri="{FF2B5EF4-FFF2-40B4-BE49-F238E27FC236}">
                <a16:creationId xmlns:a16="http://schemas.microsoft.com/office/drawing/2014/main" id="{001C7E4D-2480-4696-A174-F1C70D084AA6}"/>
              </a:ext>
            </a:extLst>
          </p:cNvPr>
          <p:cNvGrpSpPr/>
          <p:nvPr/>
        </p:nvGrpSpPr>
        <p:grpSpPr>
          <a:xfrm>
            <a:off x="1530036" y="367743"/>
            <a:ext cx="2716095" cy="483690"/>
            <a:chOff x="9191756" y="2765372"/>
            <a:chExt cx="2716747" cy="483690"/>
          </a:xfrm>
        </p:grpSpPr>
        <p:sp>
          <p:nvSpPr>
            <p:cNvPr id="36" name="Rectangle 35">
              <a:extLst>
                <a:ext uri="{FF2B5EF4-FFF2-40B4-BE49-F238E27FC236}">
                  <a16:creationId xmlns:a16="http://schemas.microsoft.com/office/drawing/2014/main" id="{CBF65B2F-436B-461B-AD88-E58C7335CE79}"/>
                </a:ext>
              </a:extLst>
            </p:cNvPr>
            <p:cNvSpPr/>
            <p:nvPr/>
          </p:nvSpPr>
          <p:spPr>
            <a:xfrm>
              <a:off x="9191756" y="2765372"/>
              <a:ext cx="606730"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CE6641E9-A326-4BBA-9614-C7DAD3D88A1F}"/>
                </a:ext>
              </a:extLst>
            </p:cNvPr>
            <p:cNvSpPr/>
            <p:nvPr/>
          </p:nvSpPr>
          <p:spPr>
            <a:xfrm>
              <a:off x="9657789" y="2861873"/>
              <a:ext cx="2250714"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75000"/>
              </a:schemeClr>
            </a:solidFill>
            <a:ln>
              <a:noFill/>
            </a:ln>
            <a:effectLst/>
          </p:spPr>
          <p:txBody>
            <a:bodyPr wrap="square" lIns="0" tIns="0" rIns="0" bIns="0">
              <a:noAutofit/>
            </a:bodyPr>
            <a:lstStyle/>
            <a:p>
              <a:pPr algn="ctr" defTabSz="932597">
                <a:defRPr/>
              </a:pPr>
              <a:r>
                <a:rPr lang="en-US" sz="1600" b="1" kern="0" dirty="0">
                  <a:solidFill>
                    <a:schemeClr val="accent2">
                      <a:lumMod val="50000"/>
                    </a:schemeClr>
                  </a:solidFill>
                  <a:latin typeface="Bahnschrift" panose="020B0502040204020203" pitchFamily="34" charset="0"/>
                </a:rPr>
                <a:t>Employee Attrition</a:t>
              </a:r>
            </a:p>
          </p:txBody>
        </p:sp>
        <p:sp>
          <p:nvSpPr>
            <p:cNvPr id="38" name="AutoShape 4">
              <a:extLst>
                <a:ext uri="{FF2B5EF4-FFF2-40B4-BE49-F238E27FC236}">
                  <a16:creationId xmlns:a16="http://schemas.microsoft.com/office/drawing/2014/main" id="{364C5B5F-AB25-479A-AE85-4C88342D74A7}"/>
                </a:ext>
              </a:extLst>
            </p:cNvPr>
            <p:cNvSpPr>
              <a:spLocks/>
            </p:cNvSpPr>
            <p:nvPr/>
          </p:nvSpPr>
          <p:spPr bwMode="auto">
            <a:xfrm flipV="1">
              <a:off x="9657789" y="2771590"/>
              <a:ext cx="136389" cy="97694"/>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63804109-C9E0-4E1E-8F26-B4B0157422EF}"/>
              </a:ext>
            </a:extLst>
          </p:cNvPr>
          <p:cNvGraphicFramePr/>
          <p:nvPr>
            <p:extLst>
              <p:ext uri="{D42A27DB-BD31-4B8C-83A1-F6EECF244321}">
                <p14:modId xmlns:p14="http://schemas.microsoft.com/office/powerpoint/2010/main" val="1084267007"/>
              </p:ext>
            </p:extLst>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D9D370F5-DAB2-4387-B86E-127EE7668D3B}"/>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a:extLst>
              <a:ext uri="{FF2B5EF4-FFF2-40B4-BE49-F238E27FC236}">
                <a16:creationId xmlns:a16="http://schemas.microsoft.com/office/drawing/2014/main" id="{4E5B595E-4CA8-43A5-EC21-129594375A02}"/>
              </a:ext>
            </a:extLst>
          </p:cNvPr>
          <p:cNvPicPr>
            <a:picLocks noChangeAspect="1"/>
          </p:cNvPicPr>
          <p:nvPr/>
        </p:nvPicPr>
        <p:blipFill>
          <a:blip r:embed="rId4">
            <a:extLst>
              <a:ext uri="{28A0092B-C50C-407E-A947-70E740481C1C}">
                <a14:useLocalDpi xmlns:a14="http://schemas.microsoft.com/office/drawing/2010/main" val="0"/>
              </a:ext>
            </a:extLst>
          </a:blip>
          <a:stretch/>
        </p:blipFill>
        <p:spPr>
          <a:xfrm>
            <a:off x="-1" y="1231212"/>
            <a:ext cx="6456219" cy="5626788"/>
          </a:xfrm>
          <a:prstGeom prst="rect">
            <a:avLst/>
          </a:prstGeom>
        </p:spPr>
      </p:pic>
      <p:sp>
        <p:nvSpPr>
          <p:cNvPr id="10" name="TextBox 9">
            <a:extLst>
              <a:ext uri="{FF2B5EF4-FFF2-40B4-BE49-F238E27FC236}">
                <a16:creationId xmlns:a16="http://schemas.microsoft.com/office/drawing/2014/main" id="{8D3F4C20-835B-53B5-4AB2-8341024BF771}"/>
              </a:ext>
            </a:extLst>
          </p:cNvPr>
          <p:cNvSpPr txBox="1"/>
          <p:nvPr/>
        </p:nvSpPr>
        <p:spPr>
          <a:xfrm>
            <a:off x="6456218" y="2426269"/>
            <a:ext cx="5621105" cy="3754874"/>
          </a:xfrm>
          <a:prstGeom prst="rect">
            <a:avLst/>
          </a:prstGeom>
          <a:noFill/>
        </p:spPr>
        <p:txBody>
          <a:bodyPr wrap="square" rtlCol="0">
            <a:spAutoFit/>
          </a:bodyPr>
          <a:lstStyle/>
          <a:p>
            <a:pPr algn="ctr"/>
            <a:r>
              <a:rPr lang="en-US" sz="2000" dirty="0">
                <a:solidFill>
                  <a:schemeClr val="tx1">
                    <a:lumMod val="85000"/>
                  </a:schemeClr>
                </a:solidFill>
                <a:effectLst/>
                <a:latin typeface="Bahnschrift" panose="020B0502040204020203" pitchFamily="34" charset="0"/>
                <a:ea typeface="Times New Roman" panose="02020603050405020304" pitchFamily="18" charset="0"/>
                <a:cs typeface="Avenir"/>
              </a:rPr>
              <a:t>Employee attrition is a critical issue for organizations, as it leads to increased costs and disruptions in operations. In the HR analytics domain, understanding why employees leave and predicting future attrition can help organizations take proactive measures to retain talent. This project will analyze the IBM HR Analytics Attrition Dataset to identify patterns and factors contributing to employee turnover and provide actionable insights for HR decision-making.</a:t>
            </a:r>
            <a:endParaRPr lang="en-US" sz="2000" dirty="0">
              <a:solidFill>
                <a:schemeClr val="tx1">
                  <a:lumMod val="85000"/>
                </a:schemeClr>
              </a:solidFill>
              <a:effectLst/>
              <a:latin typeface="Bahnschrift" panose="020B0502040204020203" pitchFamily="34" charset="0"/>
              <a:ea typeface="Times New Roman" panose="02020603050405020304" pitchFamily="18" charset="0"/>
            </a:endParaRPr>
          </a:p>
          <a:p>
            <a:endParaRPr lang="en-US" dirty="0"/>
          </a:p>
        </p:txBody>
      </p:sp>
      <p:sp>
        <p:nvSpPr>
          <p:cNvPr id="11" name="TextBox 10">
            <a:extLst>
              <a:ext uri="{FF2B5EF4-FFF2-40B4-BE49-F238E27FC236}">
                <a16:creationId xmlns:a16="http://schemas.microsoft.com/office/drawing/2014/main" id="{13D01AAD-0B6B-FE4D-4EA2-E5D8FB8638C6}"/>
              </a:ext>
            </a:extLst>
          </p:cNvPr>
          <p:cNvSpPr txBox="1"/>
          <p:nvPr/>
        </p:nvSpPr>
        <p:spPr>
          <a:xfrm>
            <a:off x="7514376" y="1623299"/>
            <a:ext cx="3458424" cy="861774"/>
          </a:xfrm>
          <a:prstGeom prst="rect">
            <a:avLst/>
          </a:prstGeom>
          <a:noFill/>
        </p:spPr>
        <p:txBody>
          <a:bodyPr wrap="square" rtlCol="0">
            <a:spAutoFit/>
          </a:bodyPr>
          <a:lstStyle/>
          <a:p>
            <a:pPr algn="ctr"/>
            <a:r>
              <a:rPr lang="en-US" sz="3200" b="1" kern="0" dirty="0">
                <a:solidFill>
                  <a:schemeClr val="tx1">
                    <a:lumMod val="85000"/>
                  </a:schemeClr>
                </a:solidFill>
                <a:latin typeface="Bahnschrift" panose="020B0502040204020203" pitchFamily="34" charset="0"/>
              </a:rPr>
              <a:t>Business Context</a:t>
            </a:r>
          </a:p>
          <a:p>
            <a:pPr algn="ctr"/>
            <a:endParaRPr lang="en-US" dirty="0"/>
          </a:p>
        </p:txBody>
      </p:sp>
      <p:pic>
        <p:nvPicPr>
          <p:cNvPr id="3" name="Picture 2" descr="A cartoon of a person in a tie&#10;&#10;AI-generated content may be incorrect.">
            <a:extLst>
              <a:ext uri="{FF2B5EF4-FFF2-40B4-BE49-F238E27FC236}">
                <a16:creationId xmlns:a16="http://schemas.microsoft.com/office/drawing/2014/main" id="{06A90CF3-0E1A-B5AF-D5B7-44CFCDDBB7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54449" y="2240865"/>
            <a:ext cx="6555512" cy="3385923"/>
          </a:xfrm>
          <a:prstGeom prst="rect">
            <a:avLst/>
          </a:prstGeom>
        </p:spPr>
      </p:pic>
    </p:spTree>
    <p:extLst>
      <p:ext uri="{BB962C8B-B14F-4D97-AF65-F5344CB8AC3E}">
        <p14:creationId xmlns:p14="http://schemas.microsoft.com/office/powerpoint/2010/main" val="4056726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2E891-1E62-C64F-62AE-01BBE0AEC95F}"/>
            </a:ext>
          </a:extLst>
        </p:cNvPr>
        <p:cNvGrpSpPr/>
        <p:nvPr/>
      </p:nvGrpSpPr>
      <p:grpSpPr>
        <a:xfrm>
          <a:off x="0" y="0"/>
          <a:ext cx="0" cy="0"/>
          <a:chOff x="0" y="0"/>
          <a:chExt cx="0" cy="0"/>
        </a:xfrm>
      </p:grpSpPr>
      <p:grpSp>
        <p:nvGrpSpPr>
          <p:cNvPr id="41" name="Group 40" descr="Overlaid shapes">
            <a:extLst>
              <a:ext uri="{FF2B5EF4-FFF2-40B4-BE49-F238E27FC236}">
                <a16:creationId xmlns:a16="http://schemas.microsoft.com/office/drawing/2014/main" id="{B18CAFE7-4C5F-5ECC-2F6B-5725A72D8BAF}"/>
              </a:ext>
            </a:extLst>
          </p:cNvPr>
          <p:cNvGrpSpPr/>
          <p:nvPr/>
        </p:nvGrpSpPr>
        <p:grpSpPr>
          <a:xfrm>
            <a:off x="1530038" y="363227"/>
            <a:ext cx="1830953" cy="477677"/>
            <a:chOff x="9191757" y="2765372"/>
            <a:chExt cx="1831392" cy="477677"/>
          </a:xfrm>
        </p:grpSpPr>
        <p:sp>
          <p:nvSpPr>
            <p:cNvPr id="36" name="Rectangle 35">
              <a:extLst>
                <a:ext uri="{FF2B5EF4-FFF2-40B4-BE49-F238E27FC236}">
                  <a16:creationId xmlns:a16="http://schemas.microsoft.com/office/drawing/2014/main" id="{05662929-1BD8-1D06-A2BF-FA8EAB45CE30}"/>
                </a:ext>
              </a:extLst>
            </p:cNvPr>
            <p:cNvSpPr/>
            <p:nvPr/>
          </p:nvSpPr>
          <p:spPr>
            <a:xfrm>
              <a:off x="9191757" y="2765372"/>
              <a:ext cx="364601"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AB0EE92B-0DD1-29DE-EB57-84E06DAA5624}"/>
                </a:ext>
              </a:extLst>
            </p:cNvPr>
            <p:cNvSpPr/>
            <p:nvPr/>
          </p:nvSpPr>
          <p:spPr>
            <a:xfrm>
              <a:off x="9492746" y="2855860"/>
              <a:ext cx="1530403"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75000"/>
              </a:schemeClr>
            </a:solidFill>
            <a:ln>
              <a:noFill/>
            </a:ln>
            <a:effectLst/>
          </p:spPr>
          <p:txBody>
            <a:bodyPr wrap="square" lIns="0" tIns="0" rIns="0" bIns="0">
              <a:noAutofit/>
            </a:bodyPr>
            <a:lstStyle/>
            <a:p>
              <a:pPr algn="ctr" defTabSz="932597">
                <a:defRPr/>
              </a:pPr>
              <a:r>
                <a:rPr lang="en-US" sz="1836" b="1" kern="0" dirty="0">
                  <a:solidFill>
                    <a:schemeClr val="accent2">
                      <a:lumMod val="50000"/>
                    </a:schemeClr>
                  </a:solidFill>
                  <a:latin typeface="Bahnschrift" panose="020B0502040204020203" pitchFamily="34" charset="0"/>
                </a:rPr>
                <a:t>Data Set</a:t>
              </a:r>
            </a:p>
          </p:txBody>
        </p:sp>
        <p:sp>
          <p:nvSpPr>
            <p:cNvPr id="38" name="AutoShape 4">
              <a:extLst>
                <a:ext uri="{FF2B5EF4-FFF2-40B4-BE49-F238E27FC236}">
                  <a16:creationId xmlns:a16="http://schemas.microsoft.com/office/drawing/2014/main" id="{83680FEB-C715-874F-8688-48FA66A35DD3}"/>
                </a:ext>
              </a:extLst>
            </p:cNvPr>
            <p:cNvSpPr>
              <a:spLocks/>
            </p:cNvSpPr>
            <p:nvPr/>
          </p:nvSpPr>
          <p:spPr bwMode="auto">
            <a:xfrm rot="21300000" flipV="1">
              <a:off x="9495043" y="2767400"/>
              <a:ext cx="65281" cy="93389"/>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102F1912-5F27-F7AF-079A-D493E7874B4A}"/>
              </a:ext>
            </a:extLst>
          </p:cNvPr>
          <p:cNvGraphicFramePr/>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0C9E9ACE-3D5E-5EF5-5DD1-062BC1B169CD}"/>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13A500F0-40BC-E1C3-E275-FE5839F042FA}"/>
              </a:ext>
            </a:extLst>
          </p:cNvPr>
          <p:cNvSpPr>
            <a:spLocks noGrp="1" noRot="1" noMove="1" noResize="1" noEditPoints="1" noAdjustHandles="1" noChangeArrowheads="1" noChangeShapeType="1"/>
          </p:cNvSpPr>
          <p:nvPr/>
        </p:nvSpPr>
        <p:spPr>
          <a:xfrm>
            <a:off x="0" y="1213164"/>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01C7808-491E-FE2F-833B-C40877A7A797}"/>
              </a:ext>
            </a:extLst>
          </p:cNvPr>
          <p:cNvSpPr txBox="1"/>
          <p:nvPr/>
        </p:nvSpPr>
        <p:spPr>
          <a:xfrm>
            <a:off x="434565" y="1530036"/>
            <a:ext cx="10520127" cy="4899803"/>
          </a:xfrm>
          <a:prstGeom prst="rect">
            <a:avLst/>
          </a:prstGeom>
          <a:noFill/>
        </p:spPr>
        <p:txBody>
          <a:bodyPr wrap="square" rtlCol="0">
            <a:spAutoFit/>
          </a:bodyPr>
          <a:lstStyle/>
          <a:p>
            <a:pPr marL="342900" marR="0" lvl="0" indent="-342900">
              <a:lnSpc>
                <a:spcPct val="115000"/>
              </a:lnSpc>
              <a:buSzPts val="1000"/>
              <a:buFont typeface="Symbol" panose="05050102010706020507" pitchFamily="18" charset="2"/>
              <a:buChar char=""/>
              <a:tabLst>
                <a:tab pos="457200" algn="l"/>
              </a:tabLst>
            </a:pPr>
            <a:r>
              <a:rPr lang="en-US" sz="1600" b="1" dirty="0">
                <a:solidFill>
                  <a:schemeClr val="tx2"/>
                </a:solidFill>
                <a:effectLst/>
                <a:latin typeface="Arial" panose="020B0604020202020204" pitchFamily="34" charset="0"/>
                <a:ea typeface="Times New Roman" panose="02020603050405020304" pitchFamily="18" charset="0"/>
              </a:rPr>
              <a:t>IBM HR Analytics Attrition Dataset:</a:t>
            </a:r>
            <a:endParaRPr lang="en-US" sz="1100" dirty="0">
              <a:solidFill>
                <a:schemeClr val="tx2"/>
              </a:solidFill>
              <a:effectLst/>
              <a:latin typeface="Arial" panose="020B0604020202020204" pitchFamily="34" charset="0"/>
              <a:ea typeface="Times New Roman" panose="02020603050405020304" pitchFamily="18" charset="0"/>
            </a:endParaRPr>
          </a:p>
          <a:p>
            <a:pPr marL="742950" marR="0" lvl="1" indent="-285750">
              <a:lnSpc>
                <a:spcPct val="115000"/>
              </a:lnSpc>
              <a:buSzPts val="1000"/>
              <a:buFont typeface="Courier New" panose="02070309020205020404" pitchFamily="49" charset="0"/>
              <a:buChar char="o"/>
              <a:tabLst>
                <a:tab pos="914400" algn="l"/>
              </a:tabLst>
            </a:pPr>
            <a:r>
              <a:rPr lang="en-US" sz="1600" b="1" dirty="0">
                <a:solidFill>
                  <a:schemeClr val="tx1">
                    <a:lumMod val="95000"/>
                  </a:schemeClr>
                </a:solidFill>
                <a:effectLst/>
                <a:latin typeface="Arial" panose="020B0604020202020204" pitchFamily="34" charset="0"/>
                <a:ea typeface="Times New Roman" panose="02020603050405020304" pitchFamily="18" charset="0"/>
                <a:cs typeface="Times New Roman" panose="02020603050405020304" pitchFamily="18" charset="0"/>
              </a:rPr>
              <a:t>Source:</a:t>
            </a:r>
            <a:r>
              <a:rPr lang="en-US" sz="1600" dirty="0">
                <a:solidFill>
                  <a:schemeClr val="tx1">
                    <a:lumMod val="95000"/>
                  </a:schemeClr>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1600" u="sng"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hlinkClick r:id="rId4"/>
              </a:rPr>
              <a:t>https://www.kaggle.com/datasets/pavansubhasht/ibm-hr-analytics-attrition-dataset</a:t>
            </a:r>
            <a:endParaRPr lang="en-US"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742950" marR="0" lvl="1" indent="-285750">
              <a:lnSpc>
                <a:spcPct val="115000"/>
              </a:lnSpc>
              <a:buSzPts val="1000"/>
              <a:buFont typeface="Courier New" panose="02070309020205020404" pitchFamily="49" charset="0"/>
              <a:buChar char="o"/>
              <a:tabLst>
                <a:tab pos="914400" algn="l"/>
              </a:tabLst>
            </a:pPr>
            <a:r>
              <a:rPr lang="en-US" sz="1600" b="1" dirty="0">
                <a:solidFill>
                  <a:schemeClr val="tx1">
                    <a:lumMod val="95000"/>
                  </a:schemeClr>
                </a:solidFill>
                <a:effectLst/>
                <a:latin typeface="Arial" panose="020B0604020202020204" pitchFamily="34" charset="0"/>
                <a:ea typeface="Times New Roman" panose="02020603050405020304" pitchFamily="18" charset="0"/>
                <a:cs typeface="Times New Roman" panose="02020603050405020304" pitchFamily="18" charset="0"/>
              </a:rPr>
              <a:t>Size:</a:t>
            </a:r>
            <a:r>
              <a:rPr lang="en-US" sz="1600" dirty="0">
                <a:solidFill>
                  <a:schemeClr val="tx1">
                    <a:lumMod val="95000"/>
                  </a:schemeClr>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1600" dirty="0">
                <a:solidFill>
                  <a:srgbClr val="92D050"/>
                </a:solidFill>
                <a:effectLst/>
                <a:latin typeface="Bahnschrift" panose="020B0502040204020203" pitchFamily="34" charset="0"/>
                <a:ea typeface="Times New Roman" panose="02020603050405020304" pitchFamily="18" charset="0"/>
                <a:cs typeface="Times New Roman" panose="02020603050405020304" pitchFamily="18" charset="0"/>
              </a:rPr>
              <a:t>1,470</a:t>
            </a:r>
            <a:r>
              <a:rPr lang="en-US" sz="1600"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 rows and </a:t>
            </a:r>
            <a:r>
              <a:rPr lang="en-US" sz="1600" dirty="0">
                <a:solidFill>
                  <a:srgbClr val="92D050"/>
                </a:solidFill>
                <a:effectLst/>
                <a:latin typeface="Bahnschrift" panose="020B0502040204020203" pitchFamily="34" charset="0"/>
                <a:ea typeface="Times New Roman" panose="02020603050405020304" pitchFamily="18" charset="0"/>
                <a:cs typeface="Times New Roman" panose="02020603050405020304" pitchFamily="18" charset="0"/>
              </a:rPr>
              <a:t>35</a:t>
            </a:r>
            <a:r>
              <a:rPr lang="en-US" sz="1600"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 columns.</a:t>
            </a:r>
          </a:p>
          <a:p>
            <a:pPr marL="742950" marR="0" lvl="1" indent="-285750">
              <a:lnSpc>
                <a:spcPct val="115000"/>
              </a:lnSpc>
              <a:buSzPts val="1000"/>
              <a:buFont typeface="Courier New" panose="02070309020205020404" pitchFamily="49" charset="0"/>
              <a:buChar char="o"/>
              <a:tabLst>
                <a:tab pos="914400" algn="l"/>
              </a:tabLst>
            </a:pPr>
            <a:r>
              <a:rPr lang="en-US" sz="1600" b="1"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Features:</a:t>
            </a:r>
            <a:r>
              <a:rPr lang="en-US" sz="1600"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 Includes employee demographics (e.g., Age, Gender), job-related factors (e.g., Job Role, Department), and performance metrics (e.g., Monthly Income, Years at Company).</a:t>
            </a:r>
          </a:p>
          <a:p>
            <a:pPr marL="742950" marR="0" lvl="1" indent="-285750">
              <a:lnSpc>
                <a:spcPct val="115000"/>
              </a:lnSpc>
              <a:buSzPts val="1000"/>
              <a:buFont typeface="Courier New" panose="02070309020205020404" pitchFamily="49" charset="0"/>
              <a:buChar char="o"/>
              <a:tabLst>
                <a:tab pos="914400" algn="l"/>
              </a:tabLst>
            </a:pPr>
            <a:r>
              <a:rPr lang="en-US" sz="1600" b="1"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Target Variable:</a:t>
            </a:r>
            <a:r>
              <a:rPr lang="en-US" sz="1600" dirty="0">
                <a:solidFill>
                  <a:schemeClr val="tx1">
                    <a:lumMod val="95000"/>
                  </a:schemeClr>
                </a:solidFill>
                <a:effectLst/>
                <a:latin typeface="Bahnschrift" panose="020B0502040204020203" pitchFamily="34" charset="0"/>
                <a:ea typeface="Times New Roman" panose="02020603050405020304" pitchFamily="18" charset="0"/>
                <a:cs typeface="Times New Roman" panose="02020603050405020304" pitchFamily="18" charset="0"/>
              </a:rPr>
              <a:t> "Attrition" (Yes/No).</a:t>
            </a:r>
          </a:p>
          <a:p>
            <a:pPr marL="457200" marR="0">
              <a:lnSpc>
                <a:spcPct val="115000"/>
              </a:lnSpc>
            </a:pPr>
            <a:r>
              <a:rPr lang="en-US" sz="1100" dirty="0">
                <a:solidFill>
                  <a:schemeClr val="tx1">
                    <a:lumMod val="95000"/>
                  </a:schemeClr>
                </a:solidFill>
                <a:effectLst/>
                <a:latin typeface="Arial" panose="020B0604020202020204" pitchFamily="34" charset="0"/>
                <a:ea typeface="Times New Roman" panose="02020603050405020304" pitchFamily="18" charset="0"/>
              </a:rPr>
              <a:t> 	</a:t>
            </a:r>
          </a:p>
          <a:p>
            <a:pPr marL="0" marR="0">
              <a:lnSpc>
                <a:spcPct val="115000"/>
              </a:lnSpc>
            </a:pPr>
            <a:r>
              <a:rPr lang="en-US" sz="1100" dirty="0">
                <a:solidFill>
                  <a:schemeClr val="tx1">
                    <a:lumMod val="95000"/>
                  </a:schemeClr>
                </a:solidFill>
                <a:effectLst/>
                <a:latin typeface="Arial" panose="020B0604020202020204" pitchFamily="34" charset="0"/>
                <a:ea typeface="Times New Roman" panose="02020603050405020304" pitchFamily="18" charset="0"/>
              </a:rPr>
              <a:t> </a:t>
            </a:r>
          </a:p>
          <a:p>
            <a:pPr marL="342900" marR="0" lvl="0" indent="-342900">
              <a:lnSpc>
                <a:spcPct val="115000"/>
              </a:lnSpc>
              <a:buFont typeface="Arial" panose="020B0604020202020204" pitchFamily="34" charset="0"/>
              <a:buChar char="-"/>
            </a:pPr>
            <a:r>
              <a:rPr lang="en-US" sz="1400" b="1" dirty="0">
                <a:solidFill>
                  <a:schemeClr val="tx1">
                    <a:lumMod val="95000"/>
                  </a:schemeClr>
                </a:solidFill>
                <a:effectLst/>
                <a:latin typeface="Arial" panose="020B0604020202020204" pitchFamily="34" charset="0"/>
                <a:ea typeface="Times New Roman" panose="02020603050405020304" pitchFamily="18" charset="0"/>
              </a:rPr>
              <a:t>Strengths:</a:t>
            </a:r>
            <a:r>
              <a:rPr lang="en-US" sz="1400" dirty="0">
                <a:solidFill>
                  <a:schemeClr val="tx1">
                    <a:lumMod val="95000"/>
                  </a:schemeClr>
                </a:solidFill>
                <a:effectLst/>
                <a:latin typeface="Arial" panose="020B0604020202020204" pitchFamily="34" charset="0"/>
                <a:ea typeface="Times New Roman" panose="02020603050405020304" pitchFamily="18" charset="0"/>
              </a:rPr>
              <a:t> </a:t>
            </a:r>
            <a:endParaRPr lang="en-US" sz="1100" dirty="0">
              <a:solidFill>
                <a:schemeClr val="tx1">
                  <a:lumMod val="95000"/>
                </a:schemeClr>
              </a:solidFill>
              <a:effectLst/>
              <a:latin typeface="Arial" panose="020B0604020202020204" pitchFamily="34" charset="0"/>
              <a:ea typeface="Times New Roman" panose="02020603050405020304" pitchFamily="18" charset="0"/>
            </a:endParaRP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The dataset is well-structured and contains a variety of features relevant to employee attrition.</a:t>
            </a: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It includes both categorical and numerical variables, allowing for comprehensive analysis.</a:t>
            </a: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The dataset is publicly available and widely used, making it easier to validate results.</a:t>
            </a: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No null or duplicated values, which simplifies data preprocessing.</a:t>
            </a:r>
          </a:p>
          <a:p>
            <a:pPr marL="457200" marR="0">
              <a:lnSpc>
                <a:spcPct val="115000"/>
              </a:lnSpc>
            </a:pPr>
            <a:r>
              <a:rPr lang="en-US" sz="1400" dirty="0">
                <a:solidFill>
                  <a:schemeClr val="tx1">
                    <a:lumMod val="95000"/>
                  </a:schemeClr>
                </a:solidFill>
                <a:effectLst/>
                <a:latin typeface="Times New Roman" panose="02020603050405020304" pitchFamily="18" charset="0"/>
                <a:ea typeface="Times New Roman" panose="02020603050405020304" pitchFamily="18" charset="0"/>
              </a:rPr>
              <a:t> </a:t>
            </a:r>
            <a:endParaRPr lang="en-US" sz="1100" dirty="0">
              <a:solidFill>
                <a:schemeClr val="tx1">
                  <a:lumMod val="95000"/>
                </a:schemeClr>
              </a:solidFill>
              <a:effectLst/>
              <a:latin typeface="Arial" panose="020B0604020202020204" pitchFamily="34" charset="0"/>
              <a:ea typeface="Times New Roman" panose="02020603050405020304" pitchFamily="18" charset="0"/>
            </a:endParaRPr>
          </a:p>
          <a:p>
            <a:pPr marL="342900" marR="0" lvl="0" indent="-342900">
              <a:lnSpc>
                <a:spcPct val="115000"/>
              </a:lnSpc>
              <a:buFont typeface="Arial" panose="020B0604020202020204" pitchFamily="34" charset="0"/>
              <a:buChar char="-"/>
            </a:pPr>
            <a:r>
              <a:rPr lang="en-US" sz="1400" b="1" dirty="0">
                <a:solidFill>
                  <a:schemeClr val="tx1">
                    <a:lumMod val="95000"/>
                  </a:schemeClr>
                </a:solidFill>
                <a:effectLst/>
                <a:latin typeface="Arial" panose="020B0604020202020204" pitchFamily="34" charset="0"/>
                <a:ea typeface="Times New Roman" panose="02020603050405020304" pitchFamily="18" charset="0"/>
              </a:rPr>
              <a:t>Weaknesses:</a:t>
            </a:r>
            <a:r>
              <a:rPr lang="en-US" sz="1400" dirty="0">
                <a:solidFill>
                  <a:schemeClr val="tx1">
                    <a:lumMod val="95000"/>
                  </a:schemeClr>
                </a:solidFill>
                <a:effectLst/>
                <a:latin typeface="Arial" panose="020B0604020202020204" pitchFamily="34" charset="0"/>
                <a:ea typeface="Times New Roman" panose="02020603050405020304" pitchFamily="18" charset="0"/>
              </a:rPr>
              <a:t> </a:t>
            </a:r>
            <a:endParaRPr lang="en-US" sz="1100" dirty="0">
              <a:solidFill>
                <a:schemeClr val="tx1">
                  <a:lumMod val="95000"/>
                </a:schemeClr>
              </a:solidFill>
              <a:effectLst/>
              <a:latin typeface="Arial" panose="020B0604020202020204" pitchFamily="34" charset="0"/>
              <a:ea typeface="Times New Roman" panose="02020603050405020304" pitchFamily="18" charset="0"/>
            </a:endParaRP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The data set may not capture all the factors that influence attrition (e.g., external job market conditions).</a:t>
            </a:r>
          </a:p>
          <a:p>
            <a:pPr marL="457200" marR="0">
              <a:lnSpc>
                <a:spcPct val="115000"/>
              </a:lnSpc>
            </a:pPr>
            <a:r>
              <a:rPr lang="en-US" sz="1600" dirty="0">
                <a:solidFill>
                  <a:schemeClr val="tx1">
                    <a:lumMod val="95000"/>
                  </a:schemeClr>
                </a:solidFill>
                <a:effectLst/>
                <a:latin typeface="Bahnschrift" panose="020B0502040204020203" pitchFamily="34" charset="0"/>
                <a:ea typeface="Times New Roman" panose="02020603050405020304" pitchFamily="18" charset="0"/>
              </a:rPr>
              <a:t>The dataset is relatively small, which could limit the generalizability of the predictive model.</a:t>
            </a:r>
          </a:p>
          <a:p>
            <a:endParaRPr lang="en-US" dirty="0"/>
          </a:p>
        </p:txBody>
      </p:sp>
      <p:pic>
        <p:nvPicPr>
          <p:cNvPr id="5" name="Picture 4" descr="A cartoon character with hands up&#10;&#10;AI-generated content may be incorrect.">
            <a:extLst>
              <a:ext uri="{FF2B5EF4-FFF2-40B4-BE49-F238E27FC236}">
                <a16:creationId xmlns:a16="http://schemas.microsoft.com/office/drawing/2014/main" id="{FEBD58B2-757C-4836-3675-E66096A9D4AD}"/>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807907" y="1213164"/>
            <a:ext cx="8293570" cy="5374591"/>
          </a:xfrm>
          <a:prstGeom prst="rect">
            <a:avLst/>
          </a:prstGeom>
        </p:spPr>
      </p:pic>
    </p:spTree>
    <p:extLst>
      <p:ext uri="{BB962C8B-B14F-4D97-AF65-F5344CB8AC3E}">
        <p14:creationId xmlns:p14="http://schemas.microsoft.com/office/powerpoint/2010/main" val="390360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FCB09-6A32-4252-050C-6EF0418155A4}"/>
            </a:ext>
          </a:extLst>
        </p:cNvPr>
        <p:cNvGrpSpPr/>
        <p:nvPr/>
      </p:nvGrpSpPr>
      <p:grpSpPr>
        <a:xfrm>
          <a:off x="0" y="0"/>
          <a:ext cx="0" cy="0"/>
          <a:chOff x="0" y="0"/>
          <a:chExt cx="0" cy="0"/>
        </a:xfrm>
      </p:grpSpPr>
      <p:grpSp>
        <p:nvGrpSpPr>
          <p:cNvPr id="41" name="Group 40" descr="Overlaid shapes">
            <a:extLst>
              <a:ext uri="{FF2B5EF4-FFF2-40B4-BE49-F238E27FC236}">
                <a16:creationId xmlns:a16="http://schemas.microsoft.com/office/drawing/2014/main" id="{73F6D910-4F97-2F7E-4A1C-3CEB3E1AEE0B}"/>
              </a:ext>
            </a:extLst>
          </p:cNvPr>
          <p:cNvGrpSpPr/>
          <p:nvPr/>
        </p:nvGrpSpPr>
        <p:grpSpPr>
          <a:xfrm>
            <a:off x="1530038" y="363227"/>
            <a:ext cx="1830957" cy="477677"/>
            <a:chOff x="9191757" y="2765372"/>
            <a:chExt cx="1831396" cy="477677"/>
          </a:xfrm>
        </p:grpSpPr>
        <p:sp>
          <p:nvSpPr>
            <p:cNvPr id="36" name="Rectangle 35">
              <a:extLst>
                <a:ext uri="{FF2B5EF4-FFF2-40B4-BE49-F238E27FC236}">
                  <a16:creationId xmlns:a16="http://schemas.microsoft.com/office/drawing/2014/main" id="{C10EABA2-1479-FAD4-C9D0-4BF00739E640}"/>
                </a:ext>
              </a:extLst>
            </p:cNvPr>
            <p:cNvSpPr/>
            <p:nvPr/>
          </p:nvSpPr>
          <p:spPr>
            <a:xfrm>
              <a:off x="9191757" y="2765372"/>
              <a:ext cx="364601"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81628AB7-4D3B-849E-67E5-C1E4DCA717B2}"/>
                </a:ext>
              </a:extLst>
            </p:cNvPr>
            <p:cNvSpPr/>
            <p:nvPr/>
          </p:nvSpPr>
          <p:spPr>
            <a:xfrm>
              <a:off x="9492750" y="2855860"/>
              <a:ext cx="1530403"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75000"/>
              </a:schemeClr>
            </a:solidFill>
            <a:ln>
              <a:noFill/>
            </a:ln>
            <a:effectLst/>
          </p:spPr>
          <p:txBody>
            <a:bodyPr wrap="square" lIns="0" tIns="0" rIns="0" bIns="0">
              <a:noAutofit/>
            </a:bodyPr>
            <a:lstStyle/>
            <a:p>
              <a:pPr algn="ctr" defTabSz="932597">
                <a:defRPr/>
              </a:pPr>
              <a:r>
                <a:rPr lang="en-US" sz="1836" b="1" kern="0" dirty="0">
                  <a:solidFill>
                    <a:schemeClr val="accent2">
                      <a:lumMod val="50000"/>
                    </a:schemeClr>
                  </a:solidFill>
                  <a:latin typeface="Bahnschrift" panose="020B0502040204020203" pitchFamily="34" charset="0"/>
                </a:rPr>
                <a:t>Data Set</a:t>
              </a:r>
            </a:p>
          </p:txBody>
        </p:sp>
        <p:sp>
          <p:nvSpPr>
            <p:cNvPr id="38" name="AutoShape 4">
              <a:extLst>
                <a:ext uri="{FF2B5EF4-FFF2-40B4-BE49-F238E27FC236}">
                  <a16:creationId xmlns:a16="http://schemas.microsoft.com/office/drawing/2014/main" id="{27C67F95-676B-CF04-95E2-822B07B848B6}"/>
                </a:ext>
              </a:extLst>
            </p:cNvPr>
            <p:cNvSpPr>
              <a:spLocks/>
            </p:cNvSpPr>
            <p:nvPr/>
          </p:nvSpPr>
          <p:spPr bwMode="auto">
            <a:xfrm rot="21300000" flipV="1">
              <a:off x="9495043" y="2767400"/>
              <a:ext cx="65281" cy="93389"/>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85169707-AE76-2C64-1772-B00408219CCA}"/>
              </a:ext>
            </a:extLst>
          </p:cNvPr>
          <p:cNvGraphicFramePr/>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0600E8CA-8CD6-25C3-2B73-0DF3CF6B3568}"/>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37426C91-E3C9-3EFD-448C-BA2E8C489FE2}"/>
              </a:ext>
            </a:extLst>
          </p:cNvPr>
          <p:cNvSpPr>
            <a:spLocks noGrp="1" noRot="1" noMove="1" noResize="1" noEditPoints="1" noAdjustHandles="1" noChangeArrowheads="1" noChangeShapeType="1"/>
          </p:cNvSpPr>
          <p:nvPr/>
        </p:nvSpPr>
        <p:spPr>
          <a:xfrm>
            <a:off x="0" y="1213164"/>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7C692FF-0542-B861-39F9-A97DF6C68D4A}"/>
              </a:ext>
            </a:extLst>
          </p:cNvPr>
          <p:cNvPicPr>
            <a:picLocks noChangeAspect="1"/>
          </p:cNvPicPr>
          <p:nvPr/>
        </p:nvPicPr>
        <p:blipFill>
          <a:blip r:embed="rId4"/>
          <a:stretch>
            <a:fillRect/>
          </a:stretch>
        </p:blipFill>
        <p:spPr>
          <a:xfrm>
            <a:off x="204875" y="1377148"/>
            <a:ext cx="11564964" cy="2524477"/>
          </a:xfrm>
          <a:prstGeom prst="rect">
            <a:avLst/>
          </a:prstGeom>
        </p:spPr>
      </p:pic>
      <p:pic>
        <p:nvPicPr>
          <p:cNvPr id="8" name="Picture 7">
            <a:extLst>
              <a:ext uri="{FF2B5EF4-FFF2-40B4-BE49-F238E27FC236}">
                <a16:creationId xmlns:a16="http://schemas.microsoft.com/office/drawing/2014/main" id="{0932D43E-3FC0-7D27-73B4-3AD3F924D40F}"/>
              </a:ext>
            </a:extLst>
          </p:cNvPr>
          <p:cNvPicPr>
            <a:picLocks noChangeAspect="1"/>
          </p:cNvPicPr>
          <p:nvPr/>
        </p:nvPicPr>
        <p:blipFill>
          <a:blip r:embed="rId5"/>
          <a:stretch>
            <a:fillRect/>
          </a:stretch>
        </p:blipFill>
        <p:spPr>
          <a:xfrm>
            <a:off x="1617785" y="4038449"/>
            <a:ext cx="10152055" cy="2365836"/>
          </a:xfrm>
          <a:prstGeom prst="rect">
            <a:avLst/>
          </a:prstGeom>
        </p:spPr>
      </p:pic>
      <p:pic>
        <p:nvPicPr>
          <p:cNvPr id="5" name="Picture 4" descr="A cartoon of a child in a tie&#10;&#10;AI-generated content may be incorrect.">
            <a:extLst>
              <a:ext uri="{FF2B5EF4-FFF2-40B4-BE49-F238E27FC236}">
                <a16:creationId xmlns:a16="http://schemas.microsoft.com/office/drawing/2014/main" id="{0E36583B-467D-E994-0DB3-726A738AA7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85289" y="3512880"/>
            <a:ext cx="7620415" cy="3935944"/>
          </a:xfrm>
          <a:prstGeom prst="rect">
            <a:avLst/>
          </a:prstGeom>
        </p:spPr>
      </p:pic>
    </p:spTree>
    <p:extLst>
      <p:ext uri="{BB962C8B-B14F-4D97-AF65-F5344CB8AC3E}">
        <p14:creationId xmlns:p14="http://schemas.microsoft.com/office/powerpoint/2010/main" val="1532648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0856-5B77-531C-D070-C6E173ED5D6D}"/>
            </a:ext>
          </a:extLst>
        </p:cNvPr>
        <p:cNvGrpSpPr/>
        <p:nvPr/>
      </p:nvGrpSpPr>
      <p:grpSpPr>
        <a:xfrm>
          <a:off x="0" y="0"/>
          <a:ext cx="0" cy="0"/>
          <a:chOff x="0" y="0"/>
          <a:chExt cx="0" cy="0"/>
        </a:xfrm>
      </p:grpSpPr>
      <p:grpSp>
        <p:nvGrpSpPr>
          <p:cNvPr id="41" name="Group 40" descr="Overlaid shapes">
            <a:extLst>
              <a:ext uri="{FF2B5EF4-FFF2-40B4-BE49-F238E27FC236}">
                <a16:creationId xmlns:a16="http://schemas.microsoft.com/office/drawing/2014/main" id="{3B2C45EA-7C21-668C-439B-1378D065173D}"/>
              </a:ext>
            </a:extLst>
          </p:cNvPr>
          <p:cNvGrpSpPr/>
          <p:nvPr/>
        </p:nvGrpSpPr>
        <p:grpSpPr>
          <a:xfrm>
            <a:off x="1530039" y="363227"/>
            <a:ext cx="1973737" cy="477677"/>
            <a:chOff x="9191757" y="2765372"/>
            <a:chExt cx="1974210" cy="477677"/>
          </a:xfrm>
        </p:grpSpPr>
        <p:sp>
          <p:nvSpPr>
            <p:cNvPr id="36" name="Rectangle 35">
              <a:extLst>
                <a:ext uri="{FF2B5EF4-FFF2-40B4-BE49-F238E27FC236}">
                  <a16:creationId xmlns:a16="http://schemas.microsoft.com/office/drawing/2014/main" id="{B2BA066E-22B1-A4C0-52CA-BCEE8EEB7FAF}"/>
                </a:ext>
              </a:extLst>
            </p:cNvPr>
            <p:cNvSpPr/>
            <p:nvPr/>
          </p:nvSpPr>
          <p:spPr>
            <a:xfrm>
              <a:off x="9191757" y="2765372"/>
              <a:ext cx="364601"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EED953C6-7906-FBCA-AC56-E3D9A65E5DAD}"/>
                </a:ext>
              </a:extLst>
            </p:cNvPr>
            <p:cNvSpPr/>
            <p:nvPr/>
          </p:nvSpPr>
          <p:spPr>
            <a:xfrm>
              <a:off x="9492749" y="2855860"/>
              <a:ext cx="1673218"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75000"/>
              </a:schemeClr>
            </a:solidFill>
            <a:ln>
              <a:noFill/>
            </a:ln>
            <a:effectLst/>
          </p:spPr>
          <p:txBody>
            <a:bodyPr wrap="square" lIns="0" tIns="0" rIns="0" bIns="0">
              <a:noAutofit/>
            </a:bodyPr>
            <a:lstStyle/>
            <a:p>
              <a:pPr algn="ctr" defTabSz="932597">
                <a:defRPr/>
              </a:pPr>
              <a:r>
                <a:rPr lang="en-US" sz="1836" b="1" kern="0" dirty="0">
                  <a:solidFill>
                    <a:schemeClr val="accent2">
                      <a:lumMod val="50000"/>
                    </a:schemeClr>
                  </a:solidFill>
                  <a:latin typeface="Bahnschrift" panose="020B0502040204020203" pitchFamily="34" charset="0"/>
                </a:rPr>
                <a:t>Data Curation</a:t>
              </a:r>
            </a:p>
          </p:txBody>
        </p:sp>
        <p:sp>
          <p:nvSpPr>
            <p:cNvPr id="38" name="AutoShape 4">
              <a:extLst>
                <a:ext uri="{FF2B5EF4-FFF2-40B4-BE49-F238E27FC236}">
                  <a16:creationId xmlns:a16="http://schemas.microsoft.com/office/drawing/2014/main" id="{A3D8D6FC-21F1-627E-6C86-163EE717BA0C}"/>
                </a:ext>
              </a:extLst>
            </p:cNvPr>
            <p:cNvSpPr>
              <a:spLocks/>
            </p:cNvSpPr>
            <p:nvPr/>
          </p:nvSpPr>
          <p:spPr bwMode="auto">
            <a:xfrm rot="21300000" flipV="1">
              <a:off x="9495043" y="2767400"/>
              <a:ext cx="65281" cy="93389"/>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a14="http://schemas.microsoft.com/office/drawing/2010/main" xmlns=""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EF1A3199-BAEC-191C-4958-1C7EF57611EE}"/>
              </a:ext>
            </a:extLst>
          </p:cNvPr>
          <p:cNvGraphicFramePr/>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B2C44FC6-70A7-6D25-2BA3-CDD57E832F03}"/>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1">
            <a:extLst>
              <a:ext uri="{FF2B5EF4-FFF2-40B4-BE49-F238E27FC236}">
                <a16:creationId xmlns:a16="http://schemas.microsoft.com/office/drawing/2014/main" id="{093E6693-17BA-76EC-AC92-18EDE58D5C4E}"/>
              </a:ext>
            </a:extLst>
          </p:cNvPr>
          <p:cNvSpPr>
            <a:spLocks noGrp="1" noRot="1" noMove="1" noResize="1" noEditPoints="1" noAdjustHandles="1" noChangeArrowheads="1" noChangeShapeType="1"/>
          </p:cNvSpPr>
          <p:nvPr/>
        </p:nvSpPr>
        <p:spPr>
          <a:xfrm>
            <a:off x="0" y="1213164"/>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2A1C21D-6803-8CFD-D005-2147C8192D88}"/>
              </a:ext>
            </a:extLst>
          </p:cNvPr>
          <p:cNvSpPr txBox="1"/>
          <p:nvPr/>
        </p:nvSpPr>
        <p:spPr>
          <a:xfrm>
            <a:off x="319307" y="1481233"/>
            <a:ext cx="2993983" cy="646331"/>
          </a:xfrm>
          <a:prstGeom prst="rect">
            <a:avLst/>
          </a:prstGeom>
          <a:solidFill>
            <a:schemeClr val="accent6">
              <a:lumMod val="75000"/>
            </a:schemeClr>
          </a:solidFill>
        </p:spPr>
        <p:txBody>
          <a:bodyPr wrap="square" rtlCol="0">
            <a:spAutoFit/>
          </a:bodyPr>
          <a:lstStyle/>
          <a:p>
            <a:r>
              <a:rPr lang="en-US" b="1" dirty="0">
                <a:latin typeface="Bahnschrift" panose="020B0502040204020203" pitchFamily="34" charset="0"/>
              </a:rPr>
              <a:t>Null Values: </a:t>
            </a:r>
            <a:r>
              <a:rPr lang="en-US" b="1" dirty="0">
                <a:solidFill>
                  <a:srgbClr val="00B050"/>
                </a:solidFill>
                <a:latin typeface="Bahnschrift" panose="020B0502040204020203" pitchFamily="34" charset="0"/>
              </a:rPr>
              <a:t>0</a:t>
            </a:r>
          </a:p>
          <a:p>
            <a:r>
              <a:rPr lang="en-US" b="1" dirty="0">
                <a:latin typeface="Bahnschrift" panose="020B0502040204020203" pitchFamily="34" charset="0"/>
              </a:rPr>
              <a:t>Duplicated Values: </a:t>
            </a:r>
            <a:r>
              <a:rPr lang="en-US" b="1" dirty="0">
                <a:solidFill>
                  <a:srgbClr val="00B050"/>
                </a:solidFill>
                <a:latin typeface="Bahnschrift" panose="020B0502040204020203" pitchFamily="34" charset="0"/>
              </a:rPr>
              <a:t>0</a:t>
            </a:r>
          </a:p>
        </p:txBody>
      </p:sp>
      <p:pic>
        <p:nvPicPr>
          <p:cNvPr id="10" name="Picture 9" descr="A cartoon character with arms up&#10;&#10;AI-generated content may be incorrect.">
            <a:extLst>
              <a:ext uri="{FF2B5EF4-FFF2-40B4-BE49-F238E27FC236}">
                <a16:creationId xmlns:a16="http://schemas.microsoft.com/office/drawing/2014/main" id="{27B4A3EB-3A97-FEF7-4ADE-E6778757F0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72982">
            <a:off x="738908" y="1645401"/>
            <a:ext cx="5148765" cy="2659337"/>
          </a:xfrm>
          <a:prstGeom prst="rect">
            <a:avLst/>
          </a:prstGeom>
        </p:spPr>
      </p:pic>
      <p:sp>
        <p:nvSpPr>
          <p:cNvPr id="11" name="TextBox 10">
            <a:extLst>
              <a:ext uri="{FF2B5EF4-FFF2-40B4-BE49-F238E27FC236}">
                <a16:creationId xmlns:a16="http://schemas.microsoft.com/office/drawing/2014/main" id="{ADE877C0-273E-6291-C62A-3F27BC6E3035}"/>
              </a:ext>
            </a:extLst>
          </p:cNvPr>
          <p:cNvSpPr txBox="1"/>
          <p:nvPr/>
        </p:nvSpPr>
        <p:spPr>
          <a:xfrm>
            <a:off x="4355014" y="1700716"/>
            <a:ext cx="2283071" cy="3213380"/>
          </a:xfrm>
          <a:prstGeom prst="rect">
            <a:avLst/>
          </a:prstGeom>
          <a:solidFill>
            <a:schemeClr val="accent6">
              <a:lumMod val="75000"/>
            </a:schemeClr>
          </a:solidFill>
        </p:spPr>
        <p:txBody>
          <a:bodyPr wrap="square" rtlCol="0">
            <a:spAutoFit/>
          </a:bodyPr>
          <a:lstStyle/>
          <a:p>
            <a:pPr marL="0" marR="0">
              <a:lnSpc>
                <a:spcPct val="115000"/>
              </a:lnSpc>
              <a:spcAft>
                <a:spcPts val="800"/>
              </a:spcAft>
            </a:pPr>
            <a:r>
              <a:rPr lang="en-US" sz="1200" b="1" kern="100" dirty="0">
                <a:effectLst/>
                <a:latin typeface="Bahnschrift" panose="020B0502040204020203" pitchFamily="34" charset="0"/>
                <a:ea typeface="Aptos" panose="020B0004020202020204" pitchFamily="34" charset="0"/>
                <a:cs typeface="Arial" panose="020B0604020202020204" pitchFamily="34" charset="0"/>
              </a:rPr>
              <a:t>Environment Satisfaction</a:t>
            </a:r>
            <a:endParaRPr lang="en-US" sz="1200" kern="100" dirty="0">
              <a:effectLst/>
              <a:latin typeface="Bahnschrift" panose="020B0502040204020203"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3    453      </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4    446</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2    287</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1    284</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High              453</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Very High    446</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Medium       287</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Low               284</a:t>
            </a:r>
          </a:p>
          <a:p>
            <a:pPr lvl="2">
              <a:lnSpc>
                <a:spcPct val="115000"/>
              </a:lnSpc>
              <a:spcAft>
                <a:spcPts val="800"/>
              </a:spcAft>
            </a:pPr>
            <a:endParaRPr lang="en-US" sz="1800" kern="100" dirty="0">
              <a:effectLst/>
              <a:latin typeface="Bahnschrift" panose="020B0502040204020203" pitchFamily="34" charset="0"/>
              <a:ea typeface="Aptos" panose="020B00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230FDB79-8623-0656-3FE3-B54154CAC8C8}"/>
              </a:ext>
            </a:extLst>
          </p:cNvPr>
          <p:cNvSpPr txBox="1"/>
          <p:nvPr/>
        </p:nvSpPr>
        <p:spPr>
          <a:xfrm>
            <a:off x="1893040" y="3620661"/>
            <a:ext cx="2283071" cy="3203954"/>
          </a:xfrm>
          <a:prstGeom prst="rect">
            <a:avLst/>
          </a:prstGeom>
          <a:solidFill>
            <a:schemeClr val="accent6">
              <a:lumMod val="75000"/>
            </a:schemeClr>
          </a:solidFill>
        </p:spPr>
        <p:txBody>
          <a:bodyPr wrap="square" rtlCol="0">
            <a:spAutoFit/>
          </a:bodyPr>
          <a:lstStyle/>
          <a:p>
            <a:pPr marL="0" marR="0">
              <a:lnSpc>
                <a:spcPct val="115000"/>
              </a:lnSpc>
              <a:spcAft>
                <a:spcPts val="800"/>
              </a:spcAft>
            </a:pPr>
            <a:r>
              <a:rPr lang="en-US" sz="1200" b="1" kern="100" dirty="0">
                <a:effectLst/>
                <a:latin typeface="Bahnschrift" panose="020B0502040204020203" pitchFamily="34" charset="0"/>
                <a:ea typeface="Aptos" panose="020B0004020202020204" pitchFamily="34" charset="0"/>
                <a:cs typeface="Arial" panose="020B0604020202020204" pitchFamily="34" charset="0"/>
              </a:rPr>
              <a:t>Job Involvement</a:t>
            </a:r>
            <a:endParaRPr lang="en-US" sz="1200" kern="100" dirty="0">
              <a:effectLst/>
              <a:latin typeface="Bahnschrift" panose="020B0502040204020203"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3    868</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2    375</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4    144</a:t>
            </a:r>
          </a:p>
          <a:p>
            <a:pPr marL="228600" marR="0" indent="-228600">
              <a:lnSpc>
                <a:spcPct val="115000"/>
              </a:lnSpc>
              <a:spcAft>
                <a:spcPts val="800"/>
              </a:spcAft>
              <a:buAutoNum type="arabicPlain"/>
            </a:pPr>
            <a:r>
              <a:rPr lang="en-US" sz="1200" kern="100" dirty="0">
                <a:effectLst/>
                <a:latin typeface="Bahnschrift" panose="020B0502040204020203" pitchFamily="34" charset="0"/>
                <a:ea typeface="Aptos" panose="020B0004020202020204" pitchFamily="34" charset="0"/>
                <a:cs typeface="Arial" panose="020B0604020202020204" pitchFamily="34" charset="0"/>
              </a:rPr>
              <a:t>83</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High            868</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Medium       375</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Very High    144</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Low              83</a:t>
            </a:r>
          </a:p>
          <a:p>
            <a:endParaRPr lang="en-US" dirty="0"/>
          </a:p>
        </p:txBody>
      </p:sp>
      <p:sp>
        <p:nvSpPr>
          <p:cNvPr id="31" name="TextBox 30">
            <a:extLst>
              <a:ext uri="{FF2B5EF4-FFF2-40B4-BE49-F238E27FC236}">
                <a16:creationId xmlns:a16="http://schemas.microsoft.com/office/drawing/2014/main" id="{0645542B-3FDB-C4E9-5153-FF1525F5200D}"/>
              </a:ext>
            </a:extLst>
          </p:cNvPr>
          <p:cNvSpPr txBox="1"/>
          <p:nvPr/>
        </p:nvSpPr>
        <p:spPr>
          <a:xfrm>
            <a:off x="9591235" y="1486611"/>
            <a:ext cx="2347546" cy="3432863"/>
          </a:xfrm>
          <a:prstGeom prst="rect">
            <a:avLst/>
          </a:prstGeom>
          <a:solidFill>
            <a:schemeClr val="accent6">
              <a:lumMod val="75000"/>
            </a:schemeClr>
          </a:solidFill>
        </p:spPr>
        <p:txBody>
          <a:bodyPr wrap="square" rtlCol="0">
            <a:spAutoFit/>
          </a:bodyPr>
          <a:lstStyle/>
          <a:p>
            <a:pPr marL="0" marR="0">
              <a:lnSpc>
                <a:spcPct val="115000"/>
              </a:lnSpc>
              <a:spcAft>
                <a:spcPts val="800"/>
              </a:spcAft>
            </a:pPr>
            <a:r>
              <a:rPr lang="en-US" sz="1200" b="1" kern="100" dirty="0">
                <a:effectLst/>
                <a:latin typeface="Bahnschrift" panose="020B0502040204020203" pitchFamily="34" charset="0"/>
                <a:ea typeface="Aptos" panose="020B0004020202020204" pitchFamily="34" charset="0"/>
                <a:cs typeface="Arial" panose="020B0604020202020204" pitchFamily="34" charset="0"/>
              </a:rPr>
              <a:t>Job Level</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1    543</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2    534</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3    218</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4    106</a:t>
            </a:r>
          </a:p>
          <a:p>
            <a:pPr marL="228600" marR="0" indent="-228600">
              <a:lnSpc>
                <a:spcPct val="115000"/>
              </a:lnSpc>
              <a:spcAft>
                <a:spcPts val="800"/>
              </a:spcAft>
              <a:buAutoNum type="arabicPlain" startAt="5"/>
            </a:pPr>
            <a:r>
              <a:rPr lang="en-US" sz="1200" kern="100" dirty="0">
                <a:effectLst/>
                <a:latin typeface="Bahnschrift" panose="020B0502040204020203" pitchFamily="34" charset="0"/>
                <a:ea typeface="Aptos" panose="020B0004020202020204" pitchFamily="34" charset="0"/>
                <a:cs typeface="Arial" panose="020B0604020202020204" pitchFamily="34" charset="0"/>
              </a:rPr>
              <a:t>69</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Entry        </a:t>
            </a:r>
            <a:r>
              <a:rPr lang="ar-SA" sz="1200" kern="100" dirty="0">
                <a:effectLst/>
                <a:latin typeface="Bahnschrift" panose="020B0502040204020203" pitchFamily="34" charset="0"/>
                <a:ea typeface="Aptos" panose="020B0004020202020204" pitchFamily="34" charset="0"/>
                <a:cs typeface="Arial" panose="020B0604020202020204" pitchFamily="34" charset="0"/>
              </a:rPr>
              <a:t>   </a:t>
            </a:r>
            <a:r>
              <a:rPr lang="en-US" sz="1200" kern="100" dirty="0">
                <a:effectLst/>
                <a:latin typeface="Bahnschrift" panose="020B0502040204020203" pitchFamily="34" charset="0"/>
                <a:ea typeface="Aptos" panose="020B0004020202020204" pitchFamily="34" charset="0"/>
                <a:cs typeface="Arial" panose="020B0604020202020204" pitchFamily="34" charset="0"/>
              </a:rPr>
              <a:t>543</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Junior      </a:t>
            </a:r>
            <a:r>
              <a:rPr lang="ar-SA" sz="1200" kern="100" dirty="0">
                <a:effectLst/>
                <a:latin typeface="Bahnschrift" panose="020B0502040204020203" pitchFamily="34" charset="0"/>
                <a:ea typeface="Aptos" panose="020B0004020202020204" pitchFamily="34" charset="0"/>
                <a:cs typeface="Arial" panose="020B0604020202020204" pitchFamily="34" charset="0"/>
              </a:rPr>
              <a:t>   </a:t>
            </a:r>
            <a:r>
              <a:rPr lang="en-US" sz="1200" kern="100" dirty="0">
                <a:effectLst/>
                <a:latin typeface="Bahnschrift" panose="020B0502040204020203" pitchFamily="34" charset="0"/>
                <a:ea typeface="Aptos" panose="020B0004020202020204" pitchFamily="34" charset="0"/>
                <a:cs typeface="Arial" panose="020B0604020202020204" pitchFamily="34" charset="0"/>
              </a:rPr>
              <a:t> 534</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Mid          </a:t>
            </a:r>
            <a:r>
              <a:rPr lang="ar-SA" sz="1200" kern="100" dirty="0">
                <a:effectLst/>
                <a:latin typeface="Bahnschrift" panose="020B0502040204020203" pitchFamily="34" charset="0"/>
                <a:ea typeface="Aptos" panose="020B0004020202020204" pitchFamily="34" charset="0"/>
                <a:cs typeface="Arial" panose="020B0604020202020204" pitchFamily="34" charset="0"/>
              </a:rPr>
              <a:t>    </a:t>
            </a:r>
            <a:r>
              <a:rPr lang="en-US" sz="1200" kern="100" dirty="0">
                <a:effectLst/>
                <a:latin typeface="Bahnschrift" panose="020B0502040204020203" pitchFamily="34" charset="0"/>
                <a:ea typeface="Aptos" panose="020B0004020202020204" pitchFamily="34" charset="0"/>
                <a:cs typeface="Arial" panose="020B0604020202020204" pitchFamily="34" charset="0"/>
              </a:rPr>
              <a:t>218</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Senior       </a:t>
            </a:r>
            <a:r>
              <a:rPr lang="ar-SA" sz="1200" kern="100" dirty="0">
                <a:effectLst/>
                <a:latin typeface="Bahnschrift" panose="020B0502040204020203" pitchFamily="34" charset="0"/>
                <a:ea typeface="Aptos" panose="020B0004020202020204" pitchFamily="34" charset="0"/>
                <a:cs typeface="Arial" panose="020B0604020202020204" pitchFamily="34" charset="0"/>
              </a:rPr>
              <a:t>  </a:t>
            </a:r>
            <a:r>
              <a:rPr lang="en-US" sz="1200" kern="100" dirty="0">
                <a:effectLst/>
                <a:latin typeface="Bahnschrift" panose="020B0502040204020203" pitchFamily="34" charset="0"/>
                <a:ea typeface="Aptos" panose="020B0004020202020204" pitchFamily="34" charset="0"/>
                <a:cs typeface="Arial" panose="020B0604020202020204" pitchFamily="34" charset="0"/>
              </a:rPr>
              <a:t>106</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Executive     69</a:t>
            </a:r>
          </a:p>
        </p:txBody>
      </p:sp>
      <p:sp>
        <p:nvSpPr>
          <p:cNvPr id="32" name="TextBox 31">
            <a:extLst>
              <a:ext uri="{FF2B5EF4-FFF2-40B4-BE49-F238E27FC236}">
                <a16:creationId xmlns:a16="http://schemas.microsoft.com/office/drawing/2014/main" id="{C471B54E-5DCE-BFC1-5486-EE596C57548C}"/>
              </a:ext>
            </a:extLst>
          </p:cNvPr>
          <p:cNvSpPr txBox="1"/>
          <p:nvPr/>
        </p:nvSpPr>
        <p:spPr>
          <a:xfrm>
            <a:off x="7208422" y="3661225"/>
            <a:ext cx="2212705" cy="3117905"/>
          </a:xfrm>
          <a:prstGeom prst="rect">
            <a:avLst/>
          </a:prstGeom>
          <a:solidFill>
            <a:schemeClr val="accent6">
              <a:lumMod val="75000"/>
            </a:schemeClr>
          </a:solidFill>
        </p:spPr>
        <p:txBody>
          <a:bodyPr wrap="square" rtlCol="0">
            <a:spAutoFit/>
          </a:bodyPr>
          <a:lstStyle/>
          <a:p>
            <a:pPr marL="0" marR="0">
              <a:lnSpc>
                <a:spcPct val="115000"/>
              </a:lnSpc>
              <a:spcAft>
                <a:spcPts val="800"/>
              </a:spcAft>
            </a:pPr>
            <a:r>
              <a:rPr lang="en-US" sz="1200" b="1" kern="100" dirty="0">
                <a:effectLst/>
                <a:latin typeface="Bahnschrift" panose="020B0502040204020203" pitchFamily="34" charset="0"/>
                <a:ea typeface="Aptos" panose="020B0004020202020204" pitchFamily="34" charset="0"/>
                <a:cs typeface="Arial" panose="020B0604020202020204" pitchFamily="34" charset="0"/>
              </a:rPr>
              <a:t>Work Life Balance</a:t>
            </a:r>
            <a:endParaRPr lang="en-US" sz="1200" kern="100" dirty="0">
              <a:effectLst/>
              <a:latin typeface="Bahnschrift" panose="020B0502040204020203" pitchFamily="34" charset="0"/>
              <a:ea typeface="Aptos" panose="020B0004020202020204" pitchFamily="34" charset="0"/>
              <a:cs typeface="Arial" panose="020B0604020202020204" pitchFamily="34" charset="0"/>
            </a:endParaRP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3    893</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2    344</a:t>
            </a:r>
          </a:p>
          <a:p>
            <a:pPr marL="0" marR="0">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4    153</a:t>
            </a:r>
          </a:p>
          <a:p>
            <a:pPr marL="228600" marR="0" indent="-228600">
              <a:lnSpc>
                <a:spcPct val="115000"/>
              </a:lnSpc>
              <a:spcAft>
                <a:spcPts val="800"/>
              </a:spcAft>
              <a:buAutoNum type="arabicPlain"/>
            </a:pPr>
            <a:r>
              <a:rPr lang="en-US" sz="1200" kern="100" dirty="0">
                <a:effectLst/>
                <a:latin typeface="Bahnschrift" panose="020B0502040204020203" pitchFamily="34" charset="0"/>
                <a:ea typeface="Aptos" panose="020B0004020202020204" pitchFamily="34" charset="0"/>
                <a:cs typeface="Arial" panose="020B0604020202020204" pitchFamily="34" charset="0"/>
              </a:rPr>
              <a:t>80</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Better    893</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Good      344</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Best      153</a:t>
            </a:r>
          </a:p>
          <a:p>
            <a:pPr lvl="2">
              <a:lnSpc>
                <a:spcPct val="115000"/>
              </a:lnSpc>
              <a:spcAft>
                <a:spcPts val="800"/>
              </a:spcAft>
            </a:pPr>
            <a:r>
              <a:rPr lang="en-US" sz="1200" kern="100" dirty="0">
                <a:effectLst/>
                <a:latin typeface="Bahnschrift" panose="020B0502040204020203" pitchFamily="34" charset="0"/>
                <a:ea typeface="Aptos" panose="020B0004020202020204" pitchFamily="34" charset="0"/>
                <a:cs typeface="Arial" panose="020B0604020202020204" pitchFamily="34" charset="0"/>
              </a:rPr>
              <a:t>Bad        80</a:t>
            </a:r>
          </a:p>
          <a:p>
            <a:pPr marR="0">
              <a:lnSpc>
                <a:spcPct val="115000"/>
              </a:lnSpc>
              <a:spcAft>
                <a:spcPts val="800"/>
              </a:spcAft>
            </a:pPr>
            <a:endParaRPr lang="en-US" sz="1200" kern="100" dirty="0">
              <a:effectLst/>
              <a:latin typeface="Bahnschrift" panose="020B0502040204020203" pitchFamily="34" charset="0"/>
              <a:ea typeface="Aptos" panose="020B0004020202020204" pitchFamily="34" charset="0"/>
              <a:cs typeface="Arial" panose="020B0604020202020204" pitchFamily="34" charset="0"/>
            </a:endParaRPr>
          </a:p>
        </p:txBody>
      </p:sp>
      <p:pic>
        <p:nvPicPr>
          <p:cNvPr id="34" name="Picture 33" descr="A cartoon character with a yellow tie&#10;&#10;AI-generated content may be incorrect.">
            <a:extLst>
              <a:ext uri="{FF2B5EF4-FFF2-40B4-BE49-F238E27FC236}">
                <a16:creationId xmlns:a16="http://schemas.microsoft.com/office/drawing/2014/main" id="{40D09420-16C2-02DA-4B40-97D0F270C8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02467" y="1525935"/>
            <a:ext cx="5627768" cy="2906742"/>
          </a:xfrm>
          <a:prstGeom prst="rect">
            <a:avLst/>
          </a:prstGeom>
        </p:spPr>
      </p:pic>
      <p:cxnSp>
        <p:nvCxnSpPr>
          <p:cNvPr id="44" name="Connector: Curved 43">
            <a:extLst>
              <a:ext uri="{FF2B5EF4-FFF2-40B4-BE49-F238E27FC236}">
                <a16:creationId xmlns:a16="http://schemas.microsoft.com/office/drawing/2014/main" id="{2E122D67-92F5-9531-9F4F-DDFE6724C3F0}"/>
              </a:ext>
            </a:extLst>
          </p:cNvPr>
          <p:cNvCxnSpPr>
            <a:cxnSpLocks/>
          </p:cNvCxnSpPr>
          <p:nvPr/>
        </p:nvCxnSpPr>
        <p:spPr>
          <a:xfrm rot="16200000" flipH="1">
            <a:off x="2521055" y="4461940"/>
            <a:ext cx="786214" cy="493587"/>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Connector: Curved 50">
            <a:extLst>
              <a:ext uri="{FF2B5EF4-FFF2-40B4-BE49-F238E27FC236}">
                <a16:creationId xmlns:a16="http://schemas.microsoft.com/office/drawing/2014/main" id="{D7FB2E24-1F0E-5623-2AC7-1A58BC2263BA}"/>
              </a:ext>
            </a:extLst>
          </p:cNvPr>
          <p:cNvCxnSpPr>
            <a:cxnSpLocks/>
          </p:cNvCxnSpPr>
          <p:nvPr/>
        </p:nvCxnSpPr>
        <p:spPr>
          <a:xfrm rot="16200000" flipH="1">
            <a:off x="5005573" y="2604386"/>
            <a:ext cx="805855" cy="600182"/>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Connector: Curved 59">
            <a:extLst>
              <a:ext uri="{FF2B5EF4-FFF2-40B4-BE49-F238E27FC236}">
                <a16:creationId xmlns:a16="http://schemas.microsoft.com/office/drawing/2014/main" id="{B80675CD-7753-86E8-DC08-35C0907D0613}"/>
              </a:ext>
            </a:extLst>
          </p:cNvPr>
          <p:cNvCxnSpPr/>
          <p:nvPr/>
        </p:nvCxnSpPr>
        <p:spPr>
          <a:xfrm rot="16200000" flipH="1">
            <a:off x="8066651" y="4461483"/>
            <a:ext cx="907012" cy="615298"/>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61">
            <a:extLst>
              <a:ext uri="{FF2B5EF4-FFF2-40B4-BE49-F238E27FC236}">
                <a16:creationId xmlns:a16="http://schemas.microsoft.com/office/drawing/2014/main" id="{30DCE5E8-515A-2E53-0873-AF6500A93591}"/>
              </a:ext>
            </a:extLst>
          </p:cNvPr>
          <p:cNvCxnSpPr/>
          <p:nvPr/>
        </p:nvCxnSpPr>
        <p:spPr>
          <a:xfrm rot="16200000" flipH="1">
            <a:off x="10446337" y="2471298"/>
            <a:ext cx="938642" cy="507389"/>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6" name="Picture 65" descr="A cartoon of a person in a tie&#10;&#10;AI-generated content may be incorrect.">
            <a:extLst>
              <a:ext uri="{FF2B5EF4-FFF2-40B4-BE49-F238E27FC236}">
                <a16:creationId xmlns:a16="http://schemas.microsoft.com/office/drawing/2014/main" id="{6B431ED3-A814-BEF7-0A5A-EC1778645D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260368">
            <a:off x="-448461" y="1574148"/>
            <a:ext cx="5311059" cy="2743162"/>
          </a:xfrm>
          <a:prstGeom prst="rect">
            <a:avLst/>
          </a:prstGeom>
        </p:spPr>
      </p:pic>
    </p:spTree>
    <p:extLst>
      <p:ext uri="{BB962C8B-B14F-4D97-AF65-F5344CB8AC3E}">
        <p14:creationId xmlns:p14="http://schemas.microsoft.com/office/powerpoint/2010/main" val="352215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8C30-303B-C50B-1083-0FBAA1D050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0AB663-3D56-D98C-3FF8-C2ED77E18838}"/>
              </a:ext>
            </a:extLst>
          </p:cNvPr>
          <p:cNvSpPr/>
          <p:nvPr/>
        </p:nvSpPr>
        <p:spPr>
          <a:xfrm>
            <a:off x="-1" y="1223305"/>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 name="Group 40" descr="Overlaid shapes">
            <a:extLst>
              <a:ext uri="{FF2B5EF4-FFF2-40B4-BE49-F238E27FC236}">
                <a16:creationId xmlns:a16="http://schemas.microsoft.com/office/drawing/2014/main" id="{50E5B49E-B836-B6F2-6C46-9E08679A068D}"/>
              </a:ext>
            </a:extLst>
          </p:cNvPr>
          <p:cNvGrpSpPr/>
          <p:nvPr/>
        </p:nvGrpSpPr>
        <p:grpSpPr>
          <a:xfrm>
            <a:off x="1530034" y="363227"/>
            <a:ext cx="1879208" cy="477677"/>
            <a:chOff x="9191757" y="2765372"/>
            <a:chExt cx="1619893" cy="477677"/>
          </a:xfrm>
        </p:grpSpPr>
        <p:sp>
          <p:nvSpPr>
            <p:cNvPr id="36" name="Rectangle 35">
              <a:extLst>
                <a:ext uri="{FF2B5EF4-FFF2-40B4-BE49-F238E27FC236}">
                  <a16:creationId xmlns:a16="http://schemas.microsoft.com/office/drawing/2014/main" id="{949A87A0-322C-0C14-84E0-516A51210476}"/>
                </a:ext>
              </a:extLst>
            </p:cNvPr>
            <p:cNvSpPr/>
            <p:nvPr/>
          </p:nvSpPr>
          <p:spPr>
            <a:xfrm>
              <a:off x="9191757" y="2765372"/>
              <a:ext cx="364601" cy="387189"/>
            </a:xfrm>
            <a:prstGeom prst="rect">
              <a:avLst/>
            </a:prstGeom>
            <a:solidFill>
              <a:schemeClr val="tx1">
                <a:lumMod val="85000"/>
              </a:schemeClr>
            </a:solidFill>
            <a:ln>
              <a:noFill/>
            </a:ln>
            <a:effectLst/>
          </p:spPr>
          <p:txBody>
            <a:bodyPr lIns="0" tIns="0" rIns="0" bIns="0"/>
            <a:lstStyle/>
            <a:p>
              <a:pPr defTabSz="932597">
                <a:defRPr/>
              </a:pPr>
              <a:endParaRPr lang="en-US" sz="1836" kern="0" dirty="0">
                <a:solidFill>
                  <a:sysClr val="windowText" lastClr="000000"/>
                </a:solidFill>
                <a:latin typeface="Georgia"/>
              </a:endParaRPr>
            </a:p>
          </p:txBody>
        </p:sp>
        <p:sp>
          <p:nvSpPr>
            <p:cNvPr id="40" name="Freeform: Shape 39">
              <a:extLst>
                <a:ext uri="{FF2B5EF4-FFF2-40B4-BE49-F238E27FC236}">
                  <a16:creationId xmlns:a16="http://schemas.microsoft.com/office/drawing/2014/main" id="{159B6141-81E8-99B0-1ED3-B84416B84DF7}"/>
                </a:ext>
              </a:extLst>
            </p:cNvPr>
            <p:cNvSpPr/>
            <p:nvPr/>
          </p:nvSpPr>
          <p:spPr>
            <a:xfrm>
              <a:off x="9492746" y="2855860"/>
              <a:ext cx="1318904" cy="387189"/>
            </a:xfrm>
            <a:custGeom>
              <a:avLst/>
              <a:gdLst>
                <a:gd name="connsiteX0" fmla="*/ 0 w 1291060"/>
                <a:gd name="connsiteY0" fmla="*/ 0 h 387189"/>
                <a:gd name="connsiteX1" fmla="*/ 1291060 w 1291060"/>
                <a:gd name="connsiteY1" fmla="*/ 0 h 387189"/>
                <a:gd name="connsiteX2" fmla="*/ 1291060 w 1291060"/>
                <a:gd name="connsiteY2" fmla="*/ 146768 h 387189"/>
                <a:gd name="connsiteX3" fmla="*/ 1149960 w 1291060"/>
                <a:gd name="connsiteY3" fmla="*/ 387189 h 387189"/>
                <a:gd name="connsiteX4" fmla="*/ 0 w 1291060"/>
                <a:gd name="connsiteY4" fmla="*/ 387189 h 387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060" h="387189">
                  <a:moveTo>
                    <a:pt x="0" y="0"/>
                  </a:moveTo>
                  <a:lnTo>
                    <a:pt x="1291060" y="0"/>
                  </a:lnTo>
                  <a:lnTo>
                    <a:pt x="1291060" y="146768"/>
                  </a:lnTo>
                  <a:lnTo>
                    <a:pt x="1149960" y="387189"/>
                  </a:lnTo>
                  <a:lnTo>
                    <a:pt x="0" y="387189"/>
                  </a:lnTo>
                  <a:close/>
                </a:path>
              </a:pathLst>
            </a:custGeom>
            <a:solidFill>
              <a:schemeClr val="tx1">
                <a:lumMod val="85000"/>
              </a:schemeClr>
            </a:solidFill>
            <a:ln>
              <a:noFill/>
            </a:ln>
            <a:effectLst/>
          </p:spPr>
          <p:txBody>
            <a:bodyPr wrap="square" lIns="0" tIns="0" rIns="0" bIns="0">
              <a:noAutofit/>
            </a:bodyPr>
            <a:lstStyle/>
            <a:p>
              <a:pPr algn="ctr" defTabSz="932597">
                <a:defRPr/>
              </a:pPr>
              <a:r>
                <a:rPr lang="en-US" sz="1836" b="1" kern="0" dirty="0">
                  <a:solidFill>
                    <a:sysClr val="windowText" lastClr="000000"/>
                  </a:solidFill>
                  <a:latin typeface="Bell MT" panose="02020503060305020303" pitchFamily="18" charset="0"/>
                </a:rPr>
                <a:t> </a:t>
              </a:r>
              <a:r>
                <a:rPr lang="en-US" sz="1836" b="1" kern="0" dirty="0">
                  <a:solidFill>
                    <a:schemeClr val="accent2">
                      <a:lumMod val="50000"/>
                    </a:schemeClr>
                  </a:solidFill>
                  <a:latin typeface="Bahnschrift" panose="020B0502040204020203" pitchFamily="34" charset="0"/>
                </a:rPr>
                <a:t>Dashboard</a:t>
              </a:r>
            </a:p>
          </p:txBody>
        </p:sp>
        <p:sp>
          <p:nvSpPr>
            <p:cNvPr id="38" name="AutoShape 4">
              <a:extLst>
                <a:ext uri="{FF2B5EF4-FFF2-40B4-BE49-F238E27FC236}">
                  <a16:creationId xmlns:a16="http://schemas.microsoft.com/office/drawing/2014/main" id="{87CB3BCB-B9E5-D488-4B6A-5FFAA7F243BC}"/>
                </a:ext>
              </a:extLst>
            </p:cNvPr>
            <p:cNvSpPr>
              <a:spLocks/>
            </p:cNvSpPr>
            <p:nvPr/>
          </p:nvSpPr>
          <p:spPr bwMode="auto">
            <a:xfrm rot="21300000" flipV="1">
              <a:off x="9495043" y="2767400"/>
              <a:ext cx="65281" cy="93389"/>
            </a:xfrm>
            <a:custGeom>
              <a:avLst/>
              <a:gdLst/>
              <a:ahLst/>
              <a:cxnLst/>
              <a:rect l="0" t="0" r="r" b="b"/>
              <a:pathLst>
                <a:path w="21600" h="21600">
                  <a:moveTo>
                    <a:pt x="21600" y="0"/>
                  </a:moveTo>
                  <a:lnTo>
                    <a:pt x="0" y="3195"/>
                  </a:lnTo>
                  <a:lnTo>
                    <a:pt x="21600" y="21600"/>
                  </a:lnTo>
                  <a:cubicBezTo>
                    <a:pt x="21600" y="21600"/>
                    <a:pt x="21600" y="0"/>
                    <a:pt x="21600" y="0"/>
                  </a:cubicBezTo>
                  <a:close/>
                  <a:moveTo>
                    <a:pt x="21600" y="0"/>
                  </a:moveTo>
                </a:path>
              </a:pathLst>
            </a:custGeom>
            <a:solidFill>
              <a:schemeClr val="tx1">
                <a:lumMod val="65000"/>
              </a:schemeClr>
            </a:solidFill>
            <a:ln>
              <a:noFill/>
            </a:ln>
            <a:extLs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lIns="0" tIns="0" rIns="0" bIns="0"/>
            <a:lstStyle/>
            <a:p>
              <a:pPr defTabSz="932597">
                <a:defRPr/>
              </a:pPr>
              <a:endParaRPr lang="en-US" sz="1836" kern="0" dirty="0">
                <a:solidFill>
                  <a:sysClr val="windowText" lastClr="000000"/>
                </a:solidFill>
                <a:latin typeface="Georgia"/>
              </a:endParaRPr>
            </a:p>
          </p:txBody>
        </p:sp>
      </p:grpSp>
      <p:graphicFrame>
        <p:nvGraphicFramePr>
          <p:cNvPr id="29" name="Chart 28" descr="Line chart">
            <a:extLst>
              <a:ext uri="{FF2B5EF4-FFF2-40B4-BE49-F238E27FC236}">
                <a16:creationId xmlns:a16="http://schemas.microsoft.com/office/drawing/2014/main" id="{F035745A-C36D-4D13-3502-483A9F29E42F}"/>
              </a:ext>
            </a:extLst>
          </p:cNvPr>
          <p:cNvGraphicFramePr/>
          <p:nvPr/>
        </p:nvGraphicFramePr>
        <p:xfrm>
          <a:off x="45268" y="72428"/>
          <a:ext cx="1439501" cy="841972"/>
        </p:xfrm>
        <a:graphic>
          <a:graphicData uri="http://schemas.openxmlformats.org/drawingml/2006/chart">
            <c:chart xmlns:c="http://schemas.openxmlformats.org/drawingml/2006/chart" xmlns:r="http://schemas.openxmlformats.org/officeDocument/2006/relationships" r:id="rId3"/>
          </a:graphicData>
        </a:graphic>
      </p:graphicFrame>
      <p:sp>
        <p:nvSpPr>
          <p:cNvPr id="28" name="Freeform 127" descr="Computer monitor outline">
            <a:extLst>
              <a:ext uri="{FF2B5EF4-FFF2-40B4-BE49-F238E27FC236}">
                <a16:creationId xmlns:a16="http://schemas.microsoft.com/office/drawing/2014/main" id="{0FA1D49E-5BA6-3E09-E8AD-50D48851F0D7}"/>
              </a:ext>
            </a:extLst>
          </p:cNvPr>
          <p:cNvSpPr>
            <a:spLocks noChangeAspect="1"/>
          </p:cNvSpPr>
          <p:nvPr/>
        </p:nvSpPr>
        <p:spPr bwMode="black">
          <a:xfrm>
            <a:off x="1" y="0"/>
            <a:ext cx="1530036" cy="1213164"/>
          </a:xfrm>
          <a:custGeom>
            <a:avLst/>
            <a:gdLst>
              <a:gd name="connsiteX0" fmla="*/ 427036 w 1971675"/>
              <a:gd name="connsiteY0" fmla="*/ 1374775 h 1409700"/>
              <a:gd name="connsiteX1" fmla="*/ 1544636 w 1971675"/>
              <a:gd name="connsiteY1" fmla="*/ 1374775 h 1409700"/>
              <a:gd name="connsiteX2" fmla="*/ 1544636 w 1971675"/>
              <a:gd name="connsiteY2" fmla="*/ 1409700 h 1409700"/>
              <a:gd name="connsiteX3" fmla="*/ 427036 w 1971675"/>
              <a:gd name="connsiteY3" fmla="*/ 1409700 h 1409700"/>
              <a:gd name="connsiteX4" fmla="*/ 104775 w 1971675"/>
              <a:gd name="connsiteY4" fmla="*/ 104775 h 1409700"/>
              <a:gd name="connsiteX5" fmla="*/ 104775 w 1971675"/>
              <a:gd name="connsiteY5" fmla="*/ 1028700 h 1409700"/>
              <a:gd name="connsiteX6" fmla="*/ 761999 w 1971675"/>
              <a:gd name="connsiteY6" fmla="*/ 1028700 h 1409700"/>
              <a:gd name="connsiteX7" fmla="*/ 1198562 w 1971675"/>
              <a:gd name="connsiteY7" fmla="*/ 1028700 h 1409700"/>
              <a:gd name="connsiteX8" fmla="*/ 1879600 w 1971675"/>
              <a:gd name="connsiteY8" fmla="*/ 1028700 h 1409700"/>
              <a:gd name="connsiteX9" fmla="*/ 1879600 w 1971675"/>
              <a:gd name="connsiteY9" fmla="*/ 104775 h 1409700"/>
              <a:gd name="connsiteX10" fmla="*/ 985837 w 1971675"/>
              <a:gd name="connsiteY10" fmla="*/ 23812 h 1409700"/>
              <a:gd name="connsiteX11" fmla="*/ 957262 w 1971675"/>
              <a:gd name="connsiteY11" fmla="*/ 46831 h 1409700"/>
              <a:gd name="connsiteX12" fmla="*/ 985837 w 1971675"/>
              <a:gd name="connsiteY12" fmla="*/ 69850 h 1409700"/>
              <a:gd name="connsiteX13" fmla="*/ 1014412 w 1971675"/>
              <a:gd name="connsiteY13" fmla="*/ 46831 h 1409700"/>
              <a:gd name="connsiteX14" fmla="*/ 985837 w 1971675"/>
              <a:gd name="connsiteY14" fmla="*/ 23812 h 1409700"/>
              <a:gd name="connsiteX15" fmla="*/ 103772 w 1971675"/>
              <a:gd name="connsiteY15" fmla="*/ 0 h 1409700"/>
              <a:gd name="connsiteX16" fmla="*/ 1856372 w 1971675"/>
              <a:gd name="connsiteY16" fmla="*/ 0 h 1409700"/>
              <a:gd name="connsiteX17" fmla="*/ 1971675 w 1971675"/>
              <a:gd name="connsiteY17" fmla="*/ 103909 h 1409700"/>
              <a:gd name="connsiteX18" fmla="*/ 1971675 w 1971675"/>
              <a:gd name="connsiteY18" fmla="*/ 1027546 h 1409700"/>
              <a:gd name="connsiteX19" fmla="*/ 1856372 w 1971675"/>
              <a:gd name="connsiteY19" fmla="*/ 1143000 h 1409700"/>
              <a:gd name="connsiteX20" fmla="*/ 1277877 w 1971675"/>
              <a:gd name="connsiteY20" fmla="*/ 1143000 h 1409700"/>
              <a:gd name="connsiteX21" fmla="*/ 1198562 w 1971675"/>
              <a:gd name="connsiteY21" fmla="*/ 1143000 h 1409700"/>
              <a:gd name="connsiteX22" fmla="*/ 1198562 w 1971675"/>
              <a:gd name="connsiteY22" fmla="*/ 1212850 h 1409700"/>
              <a:gd name="connsiteX23" fmla="*/ 1198562 w 1971675"/>
              <a:gd name="connsiteY23" fmla="*/ 1258887 h 1409700"/>
              <a:gd name="connsiteX24" fmla="*/ 1452561 w 1971675"/>
              <a:gd name="connsiteY24" fmla="*/ 1258887 h 1409700"/>
              <a:gd name="connsiteX25" fmla="*/ 1544636 w 1971675"/>
              <a:gd name="connsiteY25" fmla="*/ 1374774 h 1409700"/>
              <a:gd name="connsiteX26" fmla="*/ 427036 w 1971675"/>
              <a:gd name="connsiteY26" fmla="*/ 1374774 h 1409700"/>
              <a:gd name="connsiteX27" fmla="*/ 519111 w 1971675"/>
              <a:gd name="connsiteY27" fmla="*/ 1258887 h 1409700"/>
              <a:gd name="connsiteX28" fmla="*/ 761999 w 1971675"/>
              <a:gd name="connsiteY28" fmla="*/ 1258887 h 1409700"/>
              <a:gd name="connsiteX29" fmla="*/ 761999 w 1971675"/>
              <a:gd name="connsiteY29" fmla="*/ 1212850 h 1409700"/>
              <a:gd name="connsiteX30" fmla="*/ 761999 w 1971675"/>
              <a:gd name="connsiteY30" fmla="*/ 1143000 h 1409700"/>
              <a:gd name="connsiteX31" fmla="*/ 673281 w 1971675"/>
              <a:gd name="connsiteY31" fmla="*/ 1143000 h 1409700"/>
              <a:gd name="connsiteX32" fmla="*/ 103772 w 1971675"/>
              <a:gd name="connsiteY32" fmla="*/ 1143000 h 1409700"/>
              <a:gd name="connsiteX33" fmla="*/ 0 w 1971675"/>
              <a:gd name="connsiteY33" fmla="*/ 1027546 h 1409700"/>
              <a:gd name="connsiteX34" fmla="*/ 0 w 1971675"/>
              <a:gd name="connsiteY34" fmla="*/ 103909 h 1409700"/>
              <a:gd name="connsiteX35" fmla="*/ 103772 w 1971675"/>
              <a:gd name="connsiteY35" fmla="*/ 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71675" h="1409700">
                <a:moveTo>
                  <a:pt x="427036" y="1374775"/>
                </a:moveTo>
                <a:lnTo>
                  <a:pt x="1544636" y="1374775"/>
                </a:lnTo>
                <a:lnTo>
                  <a:pt x="1544636" y="1409700"/>
                </a:lnTo>
                <a:lnTo>
                  <a:pt x="427036" y="1409700"/>
                </a:lnTo>
                <a:close/>
                <a:moveTo>
                  <a:pt x="104775" y="104775"/>
                </a:moveTo>
                <a:lnTo>
                  <a:pt x="104775" y="1028700"/>
                </a:lnTo>
                <a:lnTo>
                  <a:pt x="761999" y="1028700"/>
                </a:lnTo>
                <a:lnTo>
                  <a:pt x="1198562" y="1028700"/>
                </a:lnTo>
                <a:lnTo>
                  <a:pt x="1879600" y="1028700"/>
                </a:lnTo>
                <a:lnTo>
                  <a:pt x="1879600" y="104775"/>
                </a:lnTo>
                <a:close/>
                <a:moveTo>
                  <a:pt x="985837" y="23812"/>
                </a:moveTo>
                <a:cubicBezTo>
                  <a:pt x="970055" y="23812"/>
                  <a:pt x="957262" y="34118"/>
                  <a:pt x="957262" y="46831"/>
                </a:cubicBezTo>
                <a:cubicBezTo>
                  <a:pt x="957262" y="59544"/>
                  <a:pt x="970055" y="69850"/>
                  <a:pt x="985837" y="69850"/>
                </a:cubicBezTo>
                <a:cubicBezTo>
                  <a:pt x="1001619" y="69850"/>
                  <a:pt x="1014412" y="59544"/>
                  <a:pt x="1014412" y="46831"/>
                </a:cubicBezTo>
                <a:cubicBezTo>
                  <a:pt x="1014412" y="34118"/>
                  <a:pt x="1001619" y="23812"/>
                  <a:pt x="985837" y="23812"/>
                </a:cubicBezTo>
                <a:close/>
                <a:moveTo>
                  <a:pt x="103772" y="0"/>
                </a:moveTo>
                <a:cubicBezTo>
                  <a:pt x="1856372" y="0"/>
                  <a:pt x="1856372" y="0"/>
                  <a:pt x="1856372" y="0"/>
                </a:cubicBezTo>
                <a:cubicBezTo>
                  <a:pt x="1925554" y="0"/>
                  <a:pt x="1971675" y="46182"/>
                  <a:pt x="1971675" y="103909"/>
                </a:cubicBezTo>
                <a:lnTo>
                  <a:pt x="1971675" y="1027546"/>
                </a:lnTo>
                <a:cubicBezTo>
                  <a:pt x="1971675" y="1085273"/>
                  <a:pt x="1925554" y="1143000"/>
                  <a:pt x="1856372" y="1143000"/>
                </a:cubicBezTo>
                <a:cubicBezTo>
                  <a:pt x="1637297" y="1143000"/>
                  <a:pt x="1445606" y="1143000"/>
                  <a:pt x="1277877" y="1143000"/>
                </a:cubicBezTo>
                <a:lnTo>
                  <a:pt x="1198562" y="1143000"/>
                </a:lnTo>
                <a:lnTo>
                  <a:pt x="1198562" y="1212850"/>
                </a:lnTo>
                <a:lnTo>
                  <a:pt x="1198562" y="1258887"/>
                </a:lnTo>
                <a:lnTo>
                  <a:pt x="1452561" y="1258887"/>
                </a:lnTo>
                <a:lnTo>
                  <a:pt x="1544636" y="1374774"/>
                </a:lnTo>
                <a:lnTo>
                  <a:pt x="427036" y="1374774"/>
                </a:lnTo>
                <a:lnTo>
                  <a:pt x="519111" y="1258887"/>
                </a:lnTo>
                <a:lnTo>
                  <a:pt x="761999" y="1258887"/>
                </a:lnTo>
                <a:lnTo>
                  <a:pt x="761999" y="1212850"/>
                </a:lnTo>
                <a:lnTo>
                  <a:pt x="761999" y="1143000"/>
                </a:lnTo>
                <a:lnTo>
                  <a:pt x="673281" y="1143000"/>
                </a:lnTo>
                <a:cubicBezTo>
                  <a:pt x="103772" y="1143000"/>
                  <a:pt x="103772" y="1143000"/>
                  <a:pt x="103772" y="1143000"/>
                </a:cubicBezTo>
                <a:cubicBezTo>
                  <a:pt x="46121" y="1143000"/>
                  <a:pt x="0" y="1085273"/>
                  <a:pt x="0" y="1027546"/>
                </a:cubicBezTo>
                <a:cubicBezTo>
                  <a:pt x="0" y="103909"/>
                  <a:pt x="0" y="103909"/>
                  <a:pt x="0" y="103909"/>
                </a:cubicBezTo>
                <a:cubicBezTo>
                  <a:pt x="0" y="46182"/>
                  <a:pt x="46121" y="0"/>
                  <a:pt x="103772" y="0"/>
                </a:cubicBezTo>
                <a:close/>
              </a:path>
            </a:pathLst>
          </a:custGeom>
          <a:solidFill>
            <a:srgbClr val="D9D9D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3" name="L-Shape 12">
            <a:extLst>
              <a:ext uri="{FF2B5EF4-FFF2-40B4-BE49-F238E27FC236}">
                <a16:creationId xmlns:a16="http://schemas.microsoft.com/office/drawing/2014/main" id="{78C9E5E2-8339-3DE3-152C-BDF6D5296155}"/>
              </a:ext>
            </a:extLst>
          </p:cNvPr>
          <p:cNvSpPr/>
          <p:nvPr/>
        </p:nvSpPr>
        <p:spPr>
          <a:xfrm>
            <a:off x="1401510" y="1223305"/>
            <a:ext cx="2828658" cy="4117816"/>
          </a:xfrm>
          <a:prstGeom prst="corner">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graph&#10;&#10;AI-generated content may be incorrect.">
            <a:hlinkClick r:id="rId4"/>
            <a:extLst>
              <a:ext uri="{FF2B5EF4-FFF2-40B4-BE49-F238E27FC236}">
                <a16:creationId xmlns:a16="http://schemas.microsoft.com/office/drawing/2014/main" id="{12989005-D0BB-FB97-B58B-01B5E057E7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30168" y="1619394"/>
            <a:ext cx="6263313" cy="485265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A cartoon character with a yellow tie&#10;&#10;AI-generated content may be incorrect.">
            <a:extLst>
              <a:ext uri="{FF2B5EF4-FFF2-40B4-BE49-F238E27FC236}">
                <a16:creationId xmlns:a16="http://schemas.microsoft.com/office/drawing/2014/main" id="{20FC7039-C98C-DC36-C623-59BA3C7E9A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809" y="1296801"/>
            <a:ext cx="6916711" cy="3572481"/>
          </a:xfrm>
          <a:prstGeom prst="rect">
            <a:avLst/>
          </a:prstGeom>
        </p:spPr>
      </p:pic>
    </p:spTree>
    <p:extLst>
      <p:ext uri="{BB962C8B-B14F-4D97-AF65-F5344CB8AC3E}">
        <p14:creationId xmlns:p14="http://schemas.microsoft.com/office/powerpoint/2010/main" val="1474453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97445-50A8-9274-C6BC-5E55B22DA16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B8D9114-4FC4-C1A7-ABB3-9A5C36AC1B00}"/>
              </a:ext>
            </a:extLst>
          </p:cNvPr>
          <p:cNvSpPr/>
          <p:nvPr/>
        </p:nvSpPr>
        <p:spPr>
          <a:xfrm>
            <a:off x="-1" y="1223305"/>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DFC535F3-640D-3095-FA21-67610417C9F9}"/>
              </a:ext>
            </a:extLst>
          </p:cNvPr>
          <p:cNvSpPr txBox="1"/>
          <p:nvPr/>
        </p:nvSpPr>
        <p:spPr>
          <a:xfrm>
            <a:off x="896568" y="1785179"/>
            <a:ext cx="9135208" cy="4247317"/>
          </a:xfrm>
          <a:prstGeom prst="rect">
            <a:avLst/>
          </a:prstGeom>
          <a:solidFill>
            <a:schemeClr val="bg2">
              <a:lumMod val="75000"/>
            </a:schemeClr>
          </a:solidFill>
        </p:spPr>
        <p:txBody>
          <a:bodyPr wrap="square" rtlCol="0">
            <a:spAutoFit/>
          </a:bodyPr>
          <a:lstStyle/>
          <a:p>
            <a:r>
              <a:rPr lang="en-US" b="1" dirty="0">
                <a:latin typeface="Bahnschrift" panose="020B0502040204020203" pitchFamily="34" charset="0"/>
              </a:rPr>
              <a:t>Key Takeaways:</a:t>
            </a:r>
          </a:p>
          <a:p>
            <a:pPr>
              <a:buFont typeface="+mj-lt"/>
              <a:buAutoNum type="arabicPeriod"/>
            </a:pPr>
            <a:r>
              <a:rPr lang="en-US" b="1" dirty="0">
                <a:latin typeface="Bahnschrift" panose="020B0502040204020203" pitchFamily="34" charset="0"/>
              </a:rPr>
              <a:t>Overall Attrition Rate:</a:t>
            </a:r>
            <a:r>
              <a:rPr lang="en-US" dirty="0">
                <a:latin typeface="Bahnschrift" panose="020B0502040204020203" pitchFamily="34" charset="0"/>
              </a:rPr>
              <a:t> </a:t>
            </a:r>
            <a:r>
              <a:rPr lang="en-US" dirty="0">
                <a:solidFill>
                  <a:schemeClr val="accent3"/>
                </a:solidFill>
                <a:latin typeface="Bahnschrift" panose="020B0502040204020203" pitchFamily="34" charset="0"/>
              </a:rPr>
              <a:t>16.12% </a:t>
            </a:r>
            <a:r>
              <a:rPr lang="en-US" dirty="0">
                <a:latin typeface="Bahnschrift" panose="020B0502040204020203" pitchFamily="34" charset="0"/>
              </a:rPr>
              <a:t>of employees have left, indicating a moderate level of turnover that requires attention.</a:t>
            </a:r>
          </a:p>
          <a:p>
            <a:pPr>
              <a:buFont typeface="+mj-lt"/>
              <a:buAutoNum type="arabicPeriod"/>
            </a:pPr>
            <a:r>
              <a:rPr lang="en-US" b="1" dirty="0">
                <a:latin typeface="Bahnschrift" panose="020B0502040204020203" pitchFamily="34" charset="0"/>
              </a:rPr>
              <a:t>Gender Disparity in Attrition:</a:t>
            </a:r>
            <a:r>
              <a:rPr lang="en-US" dirty="0">
                <a:latin typeface="Bahnschrift" panose="020B0502040204020203" pitchFamily="34" charset="0"/>
              </a:rPr>
              <a:t> Male employees have a higher attrition count than females</a:t>
            </a:r>
          </a:p>
          <a:p>
            <a:pPr>
              <a:buFont typeface="+mj-lt"/>
              <a:buAutoNum type="arabicPeriod"/>
            </a:pPr>
            <a:r>
              <a:rPr lang="en-US" b="1" dirty="0">
                <a:latin typeface="Bahnschrift" panose="020B0502040204020203" pitchFamily="34" charset="0"/>
              </a:rPr>
              <a:t>Departmental Impact:</a:t>
            </a:r>
            <a:r>
              <a:rPr lang="en-US" dirty="0">
                <a:latin typeface="Bahnschrift" panose="020B0502040204020203" pitchFamily="34" charset="0"/>
              </a:rPr>
              <a:t> The </a:t>
            </a:r>
            <a:r>
              <a:rPr lang="en-US" b="1" dirty="0">
                <a:latin typeface="Bahnschrift" panose="020B0502040204020203" pitchFamily="34" charset="0"/>
              </a:rPr>
              <a:t>Research &amp; Development</a:t>
            </a:r>
            <a:r>
              <a:rPr lang="en-US" dirty="0">
                <a:latin typeface="Bahnschrift" panose="020B0502040204020203" pitchFamily="34" charset="0"/>
              </a:rPr>
              <a:t> and </a:t>
            </a:r>
            <a:r>
              <a:rPr lang="en-US" b="1" dirty="0">
                <a:latin typeface="Bahnschrift" panose="020B0502040204020203" pitchFamily="34" charset="0"/>
              </a:rPr>
              <a:t>Sales</a:t>
            </a:r>
            <a:r>
              <a:rPr lang="en-US" dirty="0">
                <a:latin typeface="Bahnschrift" panose="020B0502040204020203" pitchFamily="34" charset="0"/>
              </a:rPr>
              <a:t> departments experience the highest attrition, emphasizing the need for targeted retention strategies.</a:t>
            </a:r>
          </a:p>
          <a:p>
            <a:pPr>
              <a:buFont typeface="+mj-lt"/>
              <a:buAutoNum type="arabicPeriod"/>
            </a:pPr>
            <a:r>
              <a:rPr lang="en-US" b="1" dirty="0">
                <a:latin typeface="Bahnschrift" panose="020B0502040204020203" pitchFamily="34" charset="0"/>
              </a:rPr>
              <a:t>Tenure and Attrition Risk:</a:t>
            </a:r>
            <a:r>
              <a:rPr lang="en-US" dirty="0">
                <a:latin typeface="Bahnschrift" panose="020B0502040204020203" pitchFamily="34" charset="0"/>
              </a:rPr>
              <a:t> Employees with </a:t>
            </a:r>
            <a:r>
              <a:rPr lang="en-US" b="1" dirty="0">
                <a:solidFill>
                  <a:schemeClr val="accent3"/>
                </a:solidFill>
                <a:latin typeface="Bahnschrift" panose="020B0502040204020203" pitchFamily="34" charset="0"/>
              </a:rPr>
              <a:t>1-7 </a:t>
            </a:r>
            <a:r>
              <a:rPr lang="en-US" b="1" dirty="0">
                <a:latin typeface="Bahnschrift" panose="020B0502040204020203" pitchFamily="34" charset="0"/>
              </a:rPr>
              <a:t>years</a:t>
            </a:r>
            <a:r>
              <a:rPr lang="en-US" dirty="0">
                <a:latin typeface="Bahnschrift" panose="020B0502040204020203" pitchFamily="34" charset="0"/>
              </a:rPr>
              <a:t> at the company face the highest attrition risk, suggesting potential issues with career growth and job satisfaction.</a:t>
            </a:r>
          </a:p>
          <a:p>
            <a:pPr>
              <a:buFont typeface="+mj-lt"/>
              <a:buAutoNum type="arabicPeriod"/>
            </a:pPr>
            <a:r>
              <a:rPr lang="en-US" b="1" dirty="0">
                <a:latin typeface="Bahnschrift" panose="020B0502040204020203" pitchFamily="34" charset="0"/>
              </a:rPr>
              <a:t>Work-Life Balance Matters:</a:t>
            </a:r>
            <a:r>
              <a:rPr lang="en-US" dirty="0">
                <a:latin typeface="Bahnschrift" panose="020B0502040204020203" pitchFamily="34" charset="0"/>
              </a:rPr>
              <a:t> Employees with lower work-life balance ratings are more likely to leave. </a:t>
            </a:r>
          </a:p>
          <a:p>
            <a:pPr>
              <a:buFont typeface="+mj-lt"/>
              <a:buAutoNum type="arabicPeriod"/>
            </a:pPr>
            <a:r>
              <a:rPr lang="en-US" b="1" dirty="0">
                <a:latin typeface="Bahnschrift" panose="020B0502040204020203" pitchFamily="34" charset="0"/>
              </a:rPr>
              <a:t>Compensation &amp; Job Level Influence:</a:t>
            </a:r>
            <a:r>
              <a:rPr lang="en-US" dirty="0">
                <a:latin typeface="Bahnschrift" panose="020B0502040204020203" pitchFamily="34" charset="0"/>
              </a:rPr>
              <a:t> Entry-level and junior employees show higher attrition rates</a:t>
            </a:r>
          </a:p>
          <a:p>
            <a:pPr>
              <a:buFont typeface="+mj-lt"/>
              <a:buAutoNum type="arabicPeriod"/>
            </a:pPr>
            <a:r>
              <a:rPr lang="en-US" b="1" dirty="0">
                <a:latin typeface="Bahnschrift" panose="020B0502040204020203" pitchFamily="34" charset="0"/>
              </a:rPr>
              <a:t>Employee Recognition is Crucial:</a:t>
            </a:r>
            <a:r>
              <a:rPr lang="en-US" dirty="0">
                <a:latin typeface="Bahnschrift" panose="020B0502040204020203" pitchFamily="34" charset="0"/>
              </a:rPr>
              <a:t> Employees who feel less recognized and engaged are more likely to leave. </a:t>
            </a:r>
          </a:p>
        </p:txBody>
      </p:sp>
      <p:pic>
        <p:nvPicPr>
          <p:cNvPr id="6" name="Picture 5" descr="A cartoon of a person in a tie&#10;&#10;AI-generated content may be incorrect.">
            <a:extLst>
              <a:ext uri="{FF2B5EF4-FFF2-40B4-BE49-F238E27FC236}">
                <a16:creationId xmlns:a16="http://schemas.microsoft.com/office/drawing/2014/main" id="{1317339D-77E0-2270-909D-27BA3900813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215636">
            <a:off x="5015886" y="2161113"/>
            <a:ext cx="12192000" cy="6297168"/>
          </a:xfrm>
          <a:prstGeom prst="rect">
            <a:avLst/>
          </a:prstGeom>
        </p:spPr>
      </p:pic>
      <p:sp>
        <p:nvSpPr>
          <p:cNvPr id="9" name="TextBox 8">
            <a:extLst>
              <a:ext uri="{FF2B5EF4-FFF2-40B4-BE49-F238E27FC236}">
                <a16:creationId xmlns:a16="http://schemas.microsoft.com/office/drawing/2014/main" id="{C1A98237-F764-262F-8425-A47177197F97}"/>
              </a:ext>
            </a:extLst>
          </p:cNvPr>
          <p:cNvSpPr txBox="1"/>
          <p:nvPr/>
        </p:nvSpPr>
        <p:spPr>
          <a:xfrm>
            <a:off x="4114800" y="107155"/>
            <a:ext cx="5433646" cy="1292662"/>
          </a:xfrm>
          <a:prstGeom prst="rect">
            <a:avLst/>
          </a:prstGeom>
          <a:noFill/>
        </p:spPr>
        <p:txBody>
          <a:bodyPr wrap="square" rtlCol="0">
            <a:spAutoFit/>
          </a:bodyPr>
          <a:lstStyle/>
          <a:p>
            <a:r>
              <a:rPr lang="en-US" sz="6000" b="1" dirty="0">
                <a:solidFill>
                  <a:schemeClr val="accent2">
                    <a:lumMod val="50000"/>
                  </a:schemeClr>
                </a:solidFill>
                <a:latin typeface="Bahnschrift" panose="020B0502040204020203" pitchFamily="34" charset="0"/>
              </a:rPr>
              <a:t>Conclusion</a:t>
            </a:r>
          </a:p>
          <a:p>
            <a:endParaRPr lang="en-US" dirty="0"/>
          </a:p>
        </p:txBody>
      </p:sp>
    </p:spTree>
    <p:extLst>
      <p:ext uri="{BB962C8B-B14F-4D97-AF65-F5344CB8AC3E}">
        <p14:creationId xmlns:p14="http://schemas.microsoft.com/office/powerpoint/2010/main" val="47045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09AFB-DD51-3AB0-9358-A5BA65039B0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961FE4-CE03-1744-9188-1EAE88990EDE}"/>
              </a:ext>
            </a:extLst>
          </p:cNvPr>
          <p:cNvSpPr/>
          <p:nvPr/>
        </p:nvSpPr>
        <p:spPr>
          <a:xfrm>
            <a:off x="-1" y="1223305"/>
            <a:ext cx="12191999" cy="5644836"/>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2B577A8-FFDF-74F8-DCFB-1FF2EC1ED27D}"/>
              </a:ext>
            </a:extLst>
          </p:cNvPr>
          <p:cNvSpPr txBox="1"/>
          <p:nvPr/>
        </p:nvSpPr>
        <p:spPr>
          <a:xfrm>
            <a:off x="235996" y="3973948"/>
            <a:ext cx="10565888" cy="2585323"/>
          </a:xfrm>
          <a:prstGeom prst="rect">
            <a:avLst/>
          </a:prstGeom>
          <a:solidFill>
            <a:schemeClr val="bg2">
              <a:lumMod val="75000"/>
            </a:schemeClr>
          </a:solidFill>
        </p:spPr>
        <p:txBody>
          <a:bodyPr wrap="square" rtlCol="0">
            <a:spAutoFit/>
          </a:bodyPr>
          <a:lstStyle/>
          <a:p>
            <a:r>
              <a:rPr lang="en-US" b="1" dirty="0">
                <a:latin typeface="Bahnschrift" panose="020B0502040204020203" pitchFamily="34" charset="0"/>
              </a:rPr>
              <a:t>Final Strategic Recommendations:</a:t>
            </a:r>
          </a:p>
          <a:p>
            <a:r>
              <a:rPr lang="en-US" dirty="0">
                <a:latin typeface="Bahnschrift" panose="020B0502040204020203" pitchFamily="34" charset="0"/>
              </a:rPr>
              <a:t>To reduce attrition and enhance retention, the company should:</a:t>
            </a:r>
            <a:br>
              <a:rPr lang="en-US" dirty="0">
                <a:latin typeface="Bahnschrift" panose="020B0502040204020203" pitchFamily="34" charset="0"/>
              </a:rPr>
            </a:br>
            <a:r>
              <a:rPr lang="en-US" dirty="0">
                <a:latin typeface="Bahnschrift" panose="020B0502040204020203" pitchFamily="34" charset="0"/>
              </a:rPr>
              <a:t>✔ Improve workplace conditions and work-life balance to boost employee satisfaction.</a:t>
            </a:r>
            <a:br>
              <a:rPr lang="en-US" dirty="0">
                <a:latin typeface="Bahnschrift" panose="020B0502040204020203" pitchFamily="34" charset="0"/>
              </a:rPr>
            </a:br>
            <a:r>
              <a:rPr lang="en-US" dirty="0">
                <a:latin typeface="Bahnschrift" panose="020B0502040204020203" pitchFamily="34" charset="0"/>
              </a:rPr>
              <a:t>✔ Develop structured career progression plans to support employees in early- to mid-career stages.</a:t>
            </a:r>
            <a:br>
              <a:rPr lang="en-US" dirty="0">
                <a:latin typeface="Bahnschrift" panose="020B0502040204020203" pitchFamily="34" charset="0"/>
              </a:rPr>
            </a:br>
            <a:r>
              <a:rPr lang="en-US" dirty="0">
                <a:latin typeface="Bahnschrift" panose="020B0502040204020203" pitchFamily="34" charset="0"/>
              </a:rPr>
              <a:t>✔ Review salary structures to ensure fair compensation across job levels.</a:t>
            </a:r>
            <a:br>
              <a:rPr lang="en-US" dirty="0">
                <a:latin typeface="Bahnschrift" panose="020B0502040204020203" pitchFamily="34" charset="0"/>
              </a:rPr>
            </a:br>
            <a:r>
              <a:rPr lang="en-US" dirty="0">
                <a:latin typeface="Bahnschrift" panose="020B0502040204020203" pitchFamily="34" charset="0"/>
              </a:rPr>
              <a:t>✔ Strengthen employee recognition programs to enhance engagement.</a:t>
            </a:r>
            <a:br>
              <a:rPr lang="en-US" dirty="0">
                <a:latin typeface="Bahnschrift" panose="020B0502040204020203" pitchFamily="34" charset="0"/>
              </a:rPr>
            </a:br>
            <a:r>
              <a:rPr lang="en-US" dirty="0">
                <a:latin typeface="Bahnschrift" panose="020B0502040204020203" pitchFamily="34" charset="0"/>
              </a:rPr>
              <a:t>✔ Implement department-specific interventions, particularly in </a:t>
            </a:r>
            <a:r>
              <a:rPr lang="en-US" b="1" dirty="0">
                <a:latin typeface="Bahnschrift" panose="020B0502040204020203" pitchFamily="34" charset="0"/>
              </a:rPr>
              <a:t>Sales</a:t>
            </a:r>
            <a:r>
              <a:rPr lang="en-US" dirty="0">
                <a:latin typeface="Bahnschrift" panose="020B0502040204020203" pitchFamily="34" charset="0"/>
              </a:rPr>
              <a:t> and </a:t>
            </a:r>
            <a:r>
              <a:rPr lang="en-US" b="1" dirty="0">
                <a:latin typeface="Bahnschrift" panose="020B0502040204020203" pitchFamily="34" charset="0"/>
              </a:rPr>
              <a:t>Research &amp; Development</a:t>
            </a:r>
            <a:r>
              <a:rPr lang="en-US" dirty="0">
                <a:latin typeface="Bahnschrift" panose="020B0502040204020203" pitchFamily="34" charset="0"/>
              </a:rPr>
              <a:t>, to address unique attrition challenges.</a:t>
            </a:r>
          </a:p>
        </p:txBody>
      </p:sp>
      <p:sp>
        <p:nvSpPr>
          <p:cNvPr id="3" name="TextBox 2">
            <a:extLst>
              <a:ext uri="{FF2B5EF4-FFF2-40B4-BE49-F238E27FC236}">
                <a16:creationId xmlns:a16="http://schemas.microsoft.com/office/drawing/2014/main" id="{3F60705A-DA7F-216E-2D2A-08DD552E1664}"/>
              </a:ext>
            </a:extLst>
          </p:cNvPr>
          <p:cNvSpPr txBox="1"/>
          <p:nvPr/>
        </p:nvSpPr>
        <p:spPr>
          <a:xfrm>
            <a:off x="235996" y="1759257"/>
            <a:ext cx="6310083" cy="2031325"/>
          </a:xfrm>
          <a:prstGeom prst="rect">
            <a:avLst/>
          </a:prstGeom>
          <a:solidFill>
            <a:schemeClr val="bg2">
              <a:lumMod val="75000"/>
            </a:schemeClr>
          </a:solidFill>
        </p:spPr>
        <p:txBody>
          <a:bodyPr wrap="square" rtlCol="0">
            <a:spAutoFit/>
          </a:bodyPr>
          <a:lstStyle/>
          <a:p>
            <a:endParaRPr lang="en-US" dirty="0">
              <a:latin typeface="Bahnschrift" panose="020B0502040204020203" pitchFamily="34" charset="0"/>
            </a:endParaRPr>
          </a:p>
          <a:p>
            <a:r>
              <a:rPr lang="en-US" dirty="0">
                <a:latin typeface="Bahnschrift" panose="020B0502040204020203" pitchFamily="34" charset="0"/>
              </a:rPr>
              <a:t>The analysis provides a comprehensive view of </a:t>
            </a:r>
            <a:r>
              <a:rPr lang="en-US" b="1" dirty="0">
                <a:latin typeface="Bahnschrift" panose="020B0502040204020203" pitchFamily="34" charset="0"/>
              </a:rPr>
              <a:t>employee attrition</a:t>
            </a:r>
            <a:r>
              <a:rPr lang="en-US" dirty="0">
                <a:latin typeface="Bahnschrift" panose="020B0502040204020203" pitchFamily="34" charset="0"/>
              </a:rPr>
              <a:t>, highlighting key factors such as </a:t>
            </a:r>
            <a:r>
              <a:rPr lang="en-US" b="1" dirty="0">
                <a:latin typeface="Bahnschrift" panose="020B0502040204020203" pitchFamily="34" charset="0"/>
              </a:rPr>
              <a:t>gender</a:t>
            </a:r>
            <a:r>
              <a:rPr lang="en-US" dirty="0">
                <a:latin typeface="Bahnschrift" panose="020B0502040204020203" pitchFamily="34" charset="0"/>
              </a:rPr>
              <a:t>, </a:t>
            </a:r>
            <a:r>
              <a:rPr lang="en-US" b="1" dirty="0">
                <a:latin typeface="Bahnschrift" panose="020B0502040204020203" pitchFamily="34" charset="0"/>
              </a:rPr>
              <a:t>department</a:t>
            </a:r>
            <a:r>
              <a:rPr lang="en-US" dirty="0">
                <a:latin typeface="Bahnschrift" panose="020B0502040204020203" pitchFamily="34" charset="0"/>
              </a:rPr>
              <a:t>, </a:t>
            </a:r>
            <a:r>
              <a:rPr lang="en-US" b="1" dirty="0">
                <a:latin typeface="Bahnschrift" panose="020B0502040204020203" pitchFamily="34" charset="0"/>
              </a:rPr>
              <a:t>tenure</a:t>
            </a:r>
            <a:r>
              <a:rPr lang="en-US" dirty="0">
                <a:latin typeface="Bahnschrift" panose="020B0502040204020203" pitchFamily="34" charset="0"/>
              </a:rPr>
              <a:t>, </a:t>
            </a:r>
            <a:r>
              <a:rPr lang="en-US" b="1" dirty="0">
                <a:latin typeface="Bahnschrift" panose="020B0502040204020203" pitchFamily="34" charset="0"/>
              </a:rPr>
              <a:t>work-life balance</a:t>
            </a:r>
            <a:r>
              <a:rPr lang="en-US" dirty="0">
                <a:latin typeface="Bahnschrift" panose="020B0502040204020203" pitchFamily="34" charset="0"/>
              </a:rPr>
              <a:t>, </a:t>
            </a:r>
            <a:r>
              <a:rPr lang="en-US" b="1" dirty="0">
                <a:latin typeface="Bahnschrift" panose="020B0502040204020203" pitchFamily="34" charset="0"/>
              </a:rPr>
              <a:t>income levels</a:t>
            </a:r>
            <a:r>
              <a:rPr lang="en-US" dirty="0">
                <a:latin typeface="Bahnschrift" panose="020B0502040204020203" pitchFamily="34" charset="0"/>
              </a:rPr>
              <a:t>, and </a:t>
            </a:r>
            <a:r>
              <a:rPr lang="en-US" b="1" dirty="0">
                <a:latin typeface="Bahnschrift" panose="020B0502040204020203" pitchFamily="34" charset="0"/>
              </a:rPr>
              <a:t>recognition</a:t>
            </a:r>
            <a:r>
              <a:rPr lang="en-US" dirty="0">
                <a:latin typeface="Bahnschrift" panose="020B0502040204020203" pitchFamily="34" charset="0"/>
              </a:rPr>
              <a:t>. Understanding these trends is crucial for </a:t>
            </a:r>
            <a:r>
              <a:rPr lang="en-US" b="1" dirty="0">
                <a:latin typeface="Bahnschrift" panose="020B0502040204020203" pitchFamily="34" charset="0"/>
              </a:rPr>
              <a:t>reducing turnover and fostering a more stable workforce</a:t>
            </a:r>
            <a:r>
              <a:rPr lang="en-US" dirty="0">
                <a:latin typeface="Bahnschrift" panose="020B0502040204020203" pitchFamily="34" charset="0"/>
              </a:rPr>
              <a:t>.</a:t>
            </a:r>
          </a:p>
          <a:p>
            <a:endParaRPr lang="en-US" dirty="0"/>
          </a:p>
        </p:txBody>
      </p:sp>
      <p:pic>
        <p:nvPicPr>
          <p:cNvPr id="5" name="Picture 4" descr="Cartoon child in a tie&#10;&#10;AI-generated content may be incorrect.">
            <a:extLst>
              <a:ext uri="{FF2B5EF4-FFF2-40B4-BE49-F238E27FC236}">
                <a16:creationId xmlns:a16="http://schemas.microsoft.com/office/drawing/2014/main" id="{F929E8F0-F3F2-EA4E-50BE-E696A942904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rot="175584">
            <a:off x="2719058" y="-264532"/>
            <a:ext cx="12192000" cy="6297168"/>
          </a:xfrm>
          <a:prstGeom prst="rect">
            <a:avLst/>
          </a:prstGeom>
        </p:spPr>
      </p:pic>
      <p:sp>
        <p:nvSpPr>
          <p:cNvPr id="6" name="TextBox 5">
            <a:extLst>
              <a:ext uri="{FF2B5EF4-FFF2-40B4-BE49-F238E27FC236}">
                <a16:creationId xmlns:a16="http://schemas.microsoft.com/office/drawing/2014/main" id="{C02B6E2E-9EFA-90B7-A125-CA1C9569F003}"/>
              </a:ext>
            </a:extLst>
          </p:cNvPr>
          <p:cNvSpPr txBox="1"/>
          <p:nvPr/>
        </p:nvSpPr>
        <p:spPr>
          <a:xfrm>
            <a:off x="4042994" y="87923"/>
            <a:ext cx="4106008" cy="1015663"/>
          </a:xfrm>
          <a:prstGeom prst="rect">
            <a:avLst/>
          </a:prstGeom>
          <a:noFill/>
        </p:spPr>
        <p:txBody>
          <a:bodyPr wrap="square" rtlCol="0">
            <a:spAutoFit/>
          </a:bodyPr>
          <a:lstStyle/>
          <a:p>
            <a:r>
              <a:rPr lang="en-US" sz="6000" b="1" dirty="0">
                <a:solidFill>
                  <a:schemeClr val="accent2">
                    <a:lumMod val="50000"/>
                  </a:schemeClr>
                </a:solidFill>
                <a:latin typeface="Bahnschrift" panose="020B0502040204020203" pitchFamily="34" charset="0"/>
              </a:rPr>
              <a:t>Conclusion</a:t>
            </a:r>
          </a:p>
        </p:txBody>
      </p:sp>
    </p:spTree>
    <p:extLst>
      <p:ext uri="{BB962C8B-B14F-4D97-AF65-F5344CB8AC3E}">
        <p14:creationId xmlns:p14="http://schemas.microsoft.com/office/powerpoint/2010/main" val="414078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Smart Graphics Sampler Neal Creative">
  <a:themeElements>
    <a:clrScheme name="Neal Analytics 2">
      <a:dk1>
        <a:srgbClr val="000000"/>
      </a:dk1>
      <a:lt1>
        <a:srgbClr val="FFFFFF"/>
      </a:lt1>
      <a:dk2>
        <a:srgbClr val="0074AF"/>
      </a:dk2>
      <a:lt2>
        <a:srgbClr val="00B0F0"/>
      </a:lt2>
      <a:accent1>
        <a:srgbClr val="75D1FF"/>
      </a:accent1>
      <a:accent2>
        <a:srgbClr val="004568"/>
      </a:accent2>
      <a:accent3>
        <a:srgbClr val="92D050"/>
      </a:accent3>
      <a:accent4>
        <a:srgbClr val="FFC000"/>
      </a:accent4>
      <a:accent5>
        <a:srgbClr val="004568"/>
      </a:accent5>
      <a:accent6>
        <a:srgbClr val="0074AF"/>
      </a:accent6>
      <a:hlink>
        <a:srgbClr val="43C0FF"/>
      </a:hlink>
      <a:folHlink>
        <a:srgbClr val="75D1FF"/>
      </a:folHlink>
    </a:clrScheme>
    <a:fontScheme name="MICROSOFT">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55917490_win32_fixed.potx" id="{1A272F58-4910-4504-BEF7-14093C13C061}" vid="{2BDA99AE-639D-43D7-9F05-5D5DC1199F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Smart Graphics Sampler</Template>
  <TotalTime>891</TotalTime>
  <Words>847</Words>
  <Application>Microsoft Office PowerPoint</Application>
  <PresentationFormat>Widescreen</PresentationFormat>
  <Paragraphs>104</Paragraphs>
  <Slides>8</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Arial</vt:lpstr>
      <vt:lpstr>Bahnschrift</vt:lpstr>
      <vt:lpstr>Bell MT</vt:lpstr>
      <vt:lpstr>Calibri</vt:lpstr>
      <vt:lpstr>Courier New</vt:lpstr>
      <vt:lpstr>Georgia</vt:lpstr>
      <vt:lpstr>Segoe UI</vt:lpstr>
      <vt:lpstr>Segoe UI Light</vt:lpstr>
      <vt:lpstr>Segoe UI Semibold</vt:lpstr>
      <vt:lpstr>Symbol</vt:lpstr>
      <vt:lpstr>Times New Roman</vt:lpstr>
      <vt:lpstr>1_Smart Graphics Sampler Neal Creative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emam mohsen</dc:creator>
  <cp:keywords/>
  <dc:description/>
  <cp:lastModifiedBy>emam mohsen</cp:lastModifiedBy>
  <cp:revision>2</cp:revision>
  <dcterms:created xsi:type="dcterms:W3CDTF">2025-02-22T19:06:39Z</dcterms:created>
  <dcterms:modified xsi:type="dcterms:W3CDTF">2025-03-06T23:34:43Z</dcterms:modified>
  <cp:category/>
</cp:coreProperties>
</file>